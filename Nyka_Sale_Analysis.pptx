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5" r:id="rId1"/>
  </p:sldMasterIdLst>
  <p:sldIdLst>
    <p:sldId id="284" r:id="rId2"/>
    <p:sldId id="257" r:id="rId3"/>
    <p:sldId id="268" r:id="rId4"/>
    <p:sldId id="267" r:id="rId5"/>
    <p:sldId id="258" r:id="rId6"/>
    <p:sldId id="259" r:id="rId7"/>
    <p:sldId id="260" r:id="rId8"/>
    <p:sldId id="261" r:id="rId9"/>
    <p:sldId id="262" r:id="rId10"/>
    <p:sldId id="263" r:id="rId11"/>
    <p:sldId id="264" r:id="rId12"/>
    <p:sldId id="265" r:id="rId13"/>
    <p:sldId id="269" r:id="rId14"/>
    <p:sldId id="270" r:id="rId15"/>
    <p:sldId id="271" r:id="rId16"/>
    <p:sldId id="272" r:id="rId17"/>
    <p:sldId id="273" r:id="rId18"/>
    <p:sldId id="274" r:id="rId19"/>
    <p:sldId id="275" r:id="rId20"/>
    <p:sldId id="285" r:id="rId21"/>
    <p:sldId id="276" r:id="rId22"/>
    <p:sldId id="286" r:id="rId23"/>
    <p:sldId id="266" r:id="rId24"/>
    <p:sldId id="287" r:id="rId25"/>
    <p:sldId id="277" r:id="rId26"/>
    <p:sldId id="288" r:id="rId27"/>
    <p:sldId id="278" r:id="rId28"/>
    <p:sldId id="289" r:id="rId29"/>
    <p:sldId id="279" r:id="rId30"/>
    <p:sldId id="290" r:id="rId31"/>
    <p:sldId id="280" r:id="rId32"/>
    <p:sldId id="291" r:id="rId33"/>
    <p:sldId id="281" r:id="rId34"/>
    <p:sldId id="282" r:id="rId35"/>
    <p:sldId id="292"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87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li Wadkar" userId="d0c39923e2dd6930" providerId="LiveId" clId="{2C027E29-D5DF-4684-BBA9-5830CBCC47C2}"/>
    <pc:docChg chg="undo custSel modSld">
      <pc:chgData name="Pranali Wadkar" userId="d0c39923e2dd6930" providerId="LiveId" clId="{2C027E29-D5DF-4684-BBA9-5830CBCC47C2}" dt="2026-08-31T17:44:05.982" v="14" actId="14100"/>
      <pc:docMkLst>
        <pc:docMk/>
      </pc:docMkLst>
      <pc:sldChg chg="addSp delSp modSp mod">
        <pc:chgData name="Pranali Wadkar" userId="d0c39923e2dd6930" providerId="LiveId" clId="{2C027E29-D5DF-4684-BBA9-5830CBCC47C2}" dt="2026-08-31T17:44:05.982" v="14" actId="14100"/>
        <pc:sldMkLst>
          <pc:docMk/>
          <pc:sldMk cId="3690704632" sldId="265"/>
        </pc:sldMkLst>
        <pc:spChg chg="add del mod">
          <ac:chgData name="Pranali Wadkar" userId="d0c39923e2dd6930" providerId="LiveId" clId="{2C027E29-D5DF-4684-BBA9-5830CBCC47C2}" dt="2026-08-31T17:43:55.242" v="10" actId="11529"/>
          <ac:spMkLst>
            <pc:docMk/>
            <pc:sldMk cId="3690704632" sldId="265"/>
            <ac:spMk id="2" creationId="{454CDFCD-0307-9131-8BD9-B09ED3D78916}"/>
          </ac:spMkLst>
        </pc:spChg>
        <pc:picChg chg="mod">
          <ac:chgData name="Pranali Wadkar" userId="d0c39923e2dd6930" providerId="LiveId" clId="{2C027E29-D5DF-4684-BBA9-5830CBCC47C2}" dt="2026-08-31T17:44:05.982" v="14" actId="14100"/>
          <ac:picMkLst>
            <pc:docMk/>
            <pc:sldMk cId="3690704632" sldId="265"/>
            <ac:picMk id="8" creationId="{F8E6F88C-BB7C-FD71-799B-9A1A3FAC46F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2F177C-3791-47B2-A07E-C8ED32DE96F9}"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6392F-C81C-4480-9456-9DA024E10EA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121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F177C-3791-47B2-A07E-C8ED32DE96F9}"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545928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F177C-3791-47B2-A07E-C8ED32DE96F9}"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6392F-C81C-4480-9456-9DA024E10EA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557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2F177C-3791-47B2-A07E-C8ED32DE96F9}"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3059617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F177C-3791-47B2-A07E-C8ED32DE96F9}" type="datetimeFigureOut">
              <a:rPr lang="en-IN" smtClean="0"/>
              <a:t>31-08-2026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490806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2F177C-3791-47B2-A07E-C8ED32DE96F9}" type="datetimeFigureOut">
              <a:rPr lang="en-IN" smtClean="0"/>
              <a:t>31-08-2026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1056079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02F177C-3791-47B2-A07E-C8ED32DE96F9}" type="datetimeFigureOut">
              <a:rPr lang="en-IN" smtClean="0"/>
              <a:t>31-08-2026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53573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02F177C-3791-47B2-A07E-C8ED32DE96F9}" type="datetimeFigureOut">
              <a:rPr lang="en-IN" smtClean="0"/>
              <a:t>31-08-2026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56392F-C81C-4480-9456-9DA024E10EA8}" type="slidenum">
              <a:rPr lang="en-IN" smtClean="0"/>
              <a:t>‹#›</a:t>
            </a:fld>
            <a:endParaRPr lang="en-IN"/>
          </a:p>
        </p:txBody>
      </p:sp>
    </p:spTree>
    <p:extLst>
      <p:ext uri="{BB962C8B-B14F-4D97-AF65-F5344CB8AC3E}">
        <p14:creationId xmlns:p14="http://schemas.microsoft.com/office/powerpoint/2010/main" val="278134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2F177C-3791-47B2-A07E-C8ED32DE96F9}"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41006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F177C-3791-47B2-A07E-C8ED32DE96F9}"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3429130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2F177C-3791-47B2-A07E-C8ED32DE96F9}"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56392F-C81C-4480-9456-9DA024E10EA8}" type="slidenum">
              <a:rPr lang="en-IN" smtClean="0"/>
              <a:t>‹#›</a:t>
            </a:fld>
            <a:endParaRPr lang="en-IN"/>
          </a:p>
        </p:txBody>
      </p:sp>
    </p:spTree>
    <p:extLst>
      <p:ext uri="{BB962C8B-B14F-4D97-AF65-F5344CB8AC3E}">
        <p14:creationId xmlns:p14="http://schemas.microsoft.com/office/powerpoint/2010/main" val="3871152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02F177C-3791-47B2-A07E-C8ED32DE96F9}" type="datetimeFigureOut">
              <a:rPr lang="en-IN" smtClean="0"/>
              <a:t>31-08-2026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656392F-C81C-4480-9456-9DA024E10EA8}"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800052"/>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B6769C5-D945-E42C-990A-00FCC1A364AE}"/>
              </a:ext>
            </a:extLst>
          </p:cNvPr>
          <p:cNvSpPr txBox="1"/>
          <p:nvPr/>
        </p:nvSpPr>
        <p:spPr>
          <a:xfrm>
            <a:off x="1474839" y="1465006"/>
            <a:ext cx="8829367" cy="2723536"/>
          </a:xfrm>
          <a:prstGeom prst="rect">
            <a:avLst/>
          </a:prstGeom>
          <a:noFill/>
        </p:spPr>
        <p:txBody>
          <a:bodyPr wrap="square" rtlCol="0">
            <a:spAutoFit/>
          </a:bodyPr>
          <a:lstStyle/>
          <a:p>
            <a:endParaRPr lang="en-IN" dirty="0"/>
          </a:p>
        </p:txBody>
      </p:sp>
      <p:sp>
        <p:nvSpPr>
          <p:cNvPr id="9" name="TextBox 8">
            <a:extLst>
              <a:ext uri="{FF2B5EF4-FFF2-40B4-BE49-F238E27FC236}">
                <a16:creationId xmlns:a16="http://schemas.microsoft.com/office/drawing/2014/main" id="{26A3AAF6-8ADB-E82C-4E12-A1DC5B1DD757}"/>
              </a:ext>
            </a:extLst>
          </p:cNvPr>
          <p:cNvSpPr txBox="1"/>
          <p:nvPr/>
        </p:nvSpPr>
        <p:spPr>
          <a:xfrm>
            <a:off x="535858" y="930234"/>
            <a:ext cx="11120283" cy="4662815"/>
          </a:xfrm>
          <a:prstGeom prst="rect">
            <a:avLst/>
          </a:prstGeom>
          <a:solidFill>
            <a:schemeClr val="accent2">
              <a:lumMod val="40000"/>
              <a:lumOff val="60000"/>
            </a:schemeClr>
          </a:solidFill>
          <a:ln>
            <a:solidFill>
              <a:schemeClr val="accent4">
                <a:lumMod val="75000"/>
              </a:schemeClr>
            </a:solidFill>
          </a:ln>
          <a:effectLst>
            <a:outerShdw blurRad="63500" sx="102000" sy="102000" algn="ctr" rotWithShape="0">
              <a:prstClr val="black">
                <a:alpha val="40000"/>
              </a:prstClr>
            </a:outerShdw>
          </a:effectLst>
        </p:spPr>
        <p:txBody>
          <a:bodyPr wrap="square" rtlCol="0">
            <a:spAutoFit/>
          </a:bodyPr>
          <a:lstStyle/>
          <a:p>
            <a:pPr algn="ctr"/>
            <a:r>
              <a:rPr lang="en-IN" sz="4400" b="1" u="sng" dirty="0">
                <a:solidFill>
                  <a:schemeClr val="bg2">
                    <a:lumMod val="25000"/>
                  </a:schemeClr>
                </a:solidFill>
                <a:latin typeface="Cambria" panose="02040503050406030204" pitchFamily="18" charset="0"/>
                <a:ea typeface="Cambria" panose="02040503050406030204" pitchFamily="18" charset="0"/>
              </a:rPr>
              <a:t>NYKAA SALES ANALYSIS</a:t>
            </a:r>
          </a:p>
          <a:p>
            <a:pPr algn="ctr"/>
            <a:r>
              <a:rPr lang="en-IN" sz="2500" b="1" u="sng" dirty="0">
                <a:solidFill>
                  <a:schemeClr val="bg2">
                    <a:lumMod val="25000"/>
                  </a:schemeClr>
                </a:solidFill>
                <a:latin typeface="Cambria" panose="02040503050406030204" pitchFamily="18" charset="0"/>
                <a:ea typeface="Cambria" panose="02040503050406030204" pitchFamily="18" charset="0"/>
              </a:rPr>
              <a:t>Using SQL</a:t>
            </a:r>
          </a:p>
          <a:p>
            <a:endParaRPr lang="en-IN" sz="3000" dirty="0">
              <a:solidFill>
                <a:schemeClr val="bg2">
                  <a:lumMod val="25000"/>
                </a:schemeClr>
              </a:solidFill>
              <a:latin typeface="Cambria" panose="02040503050406030204" pitchFamily="18" charset="0"/>
              <a:ea typeface="Cambria" panose="02040503050406030204" pitchFamily="18" charset="0"/>
            </a:endParaRPr>
          </a:p>
          <a:p>
            <a:endParaRPr lang="en-IN" dirty="0">
              <a:solidFill>
                <a:schemeClr val="bg2">
                  <a:lumMod val="25000"/>
                </a:schemeClr>
              </a:solidFill>
              <a:latin typeface="Cambria" panose="02040503050406030204" pitchFamily="18" charset="0"/>
              <a:ea typeface="Cambria" panose="02040503050406030204" pitchFamily="18" charset="0"/>
            </a:endParaRPr>
          </a:p>
          <a:p>
            <a:r>
              <a:rPr lang="en-IN" u="sng" dirty="0">
                <a:solidFill>
                  <a:schemeClr val="bg2">
                    <a:lumMod val="25000"/>
                  </a:schemeClr>
                </a:solidFill>
                <a:latin typeface="Cambria" panose="02040503050406030204" pitchFamily="18" charset="0"/>
                <a:ea typeface="Cambria" panose="02040503050406030204" pitchFamily="18" charset="0"/>
              </a:rPr>
              <a:t>Building a Relational Database for Customer,  </a:t>
            </a:r>
          </a:p>
          <a:p>
            <a:r>
              <a:rPr lang="en-IN" u="sng" dirty="0">
                <a:solidFill>
                  <a:schemeClr val="bg2">
                    <a:lumMod val="25000"/>
                  </a:schemeClr>
                </a:solidFill>
                <a:latin typeface="Cambria" panose="02040503050406030204" pitchFamily="18" charset="0"/>
                <a:ea typeface="Cambria" panose="02040503050406030204" pitchFamily="18" charset="0"/>
              </a:rPr>
              <a:t>Product &amp; Sales Analysis           </a:t>
            </a:r>
          </a:p>
          <a:p>
            <a:endParaRPr lang="en-IN" dirty="0">
              <a:solidFill>
                <a:schemeClr val="bg2">
                  <a:lumMod val="25000"/>
                </a:schemeClr>
              </a:solidFill>
              <a:latin typeface="Cambria" panose="02040503050406030204" pitchFamily="18" charset="0"/>
              <a:ea typeface="Cambria" panose="02040503050406030204" pitchFamily="18" charset="0"/>
            </a:endParaRPr>
          </a:p>
          <a:p>
            <a:endParaRPr lang="en-IN" dirty="0">
              <a:solidFill>
                <a:schemeClr val="bg2">
                  <a:lumMod val="25000"/>
                </a:schemeClr>
              </a:solidFill>
              <a:latin typeface="Cambria" panose="02040503050406030204" pitchFamily="18" charset="0"/>
              <a:ea typeface="Cambria" panose="02040503050406030204" pitchFamily="18" charset="0"/>
            </a:endParaRPr>
          </a:p>
          <a:p>
            <a:r>
              <a:rPr lang="en-IN" dirty="0">
                <a:solidFill>
                  <a:schemeClr val="bg2">
                    <a:lumMod val="25000"/>
                  </a:schemeClr>
                </a:solidFill>
                <a:latin typeface="Cambria" panose="02040503050406030204" pitchFamily="18" charset="0"/>
                <a:ea typeface="Cambria" panose="02040503050406030204" pitchFamily="18" charset="0"/>
              </a:rPr>
              <a:t>💻 MySQL   📊 SQL   🛍️ Sales   👥 Customers          </a:t>
            </a:r>
          </a:p>
          <a:p>
            <a:endParaRPr lang="en-IN" dirty="0">
              <a:solidFill>
                <a:schemeClr val="bg2">
                  <a:lumMod val="25000"/>
                </a:schemeClr>
              </a:solidFill>
              <a:latin typeface="Cambria" panose="02040503050406030204" pitchFamily="18" charset="0"/>
              <a:ea typeface="Cambria" panose="02040503050406030204" pitchFamily="18" charset="0"/>
            </a:endParaRPr>
          </a:p>
          <a:p>
            <a:endParaRPr lang="en-IN" dirty="0">
              <a:solidFill>
                <a:schemeClr val="bg2">
                  <a:lumMod val="25000"/>
                </a:schemeClr>
              </a:solidFill>
              <a:latin typeface="Cambria" panose="02040503050406030204" pitchFamily="18" charset="0"/>
              <a:ea typeface="Cambria" panose="02040503050406030204" pitchFamily="18" charset="0"/>
            </a:endParaRPr>
          </a:p>
          <a:p>
            <a:r>
              <a:rPr lang="en-IN" dirty="0">
                <a:solidFill>
                  <a:schemeClr val="bg2">
                    <a:lumMod val="25000"/>
                  </a:schemeClr>
                </a:solidFill>
                <a:latin typeface="Cambria" panose="02040503050406030204" pitchFamily="18" charset="0"/>
                <a:ea typeface="Cambria" panose="02040503050406030204" pitchFamily="18" charset="0"/>
              </a:rPr>
              <a:t>																		</a:t>
            </a:r>
            <a:r>
              <a:rPr lang="en-IN" b="1" dirty="0">
                <a:solidFill>
                  <a:schemeClr val="bg2">
                    <a:lumMod val="25000"/>
                  </a:schemeClr>
                </a:solidFill>
                <a:latin typeface="Cambria" panose="02040503050406030204" pitchFamily="18" charset="0"/>
                <a:ea typeface="Cambria" panose="02040503050406030204" pitchFamily="18" charset="0"/>
              </a:rPr>
              <a:t>Prepared By                               																		Pranali Wadkar                   │</a:t>
            </a:r>
          </a:p>
        </p:txBody>
      </p:sp>
    </p:spTree>
    <p:extLst>
      <p:ext uri="{BB962C8B-B14F-4D97-AF65-F5344CB8AC3E}">
        <p14:creationId xmlns:p14="http://schemas.microsoft.com/office/powerpoint/2010/main" val="370933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7F5E4E-7403-9F1B-34C2-983542E631BC}"/>
              </a:ext>
            </a:extLst>
          </p:cNvPr>
          <p:cNvSpPr txBox="1"/>
          <p:nvPr/>
        </p:nvSpPr>
        <p:spPr>
          <a:xfrm>
            <a:off x="2015613" y="934065"/>
            <a:ext cx="184731" cy="369332"/>
          </a:xfrm>
          <a:prstGeom prst="rect">
            <a:avLst/>
          </a:prstGeom>
          <a:noFill/>
        </p:spPr>
        <p:txBody>
          <a:bodyPr wrap="square" rtlCol="0">
            <a:spAutoFit/>
          </a:bodyPr>
          <a:lstStyle/>
          <a:p>
            <a:endParaRPr lang="en-IN" dirty="0"/>
          </a:p>
        </p:txBody>
      </p:sp>
      <p:sp>
        <p:nvSpPr>
          <p:cNvPr id="6" name="TextBox 5">
            <a:extLst>
              <a:ext uri="{FF2B5EF4-FFF2-40B4-BE49-F238E27FC236}">
                <a16:creationId xmlns:a16="http://schemas.microsoft.com/office/drawing/2014/main" id="{20B5940A-83E2-7480-4675-CC8F0619EA78}"/>
              </a:ext>
            </a:extLst>
          </p:cNvPr>
          <p:cNvSpPr txBox="1"/>
          <p:nvPr/>
        </p:nvSpPr>
        <p:spPr>
          <a:xfrm>
            <a:off x="1129528" y="1118731"/>
            <a:ext cx="10138240" cy="4283288"/>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pPr>
            <a:r>
              <a:rPr lang="en-IN" sz="1200" b="1" kern="100" dirty="0">
                <a:latin typeface="Cambria" panose="02040503050406030204" pitchFamily="18" charset="0"/>
                <a:ea typeface="Cambria" panose="02040503050406030204" pitchFamily="18" charset="0"/>
                <a:cs typeface="Times New Roman" panose="02020603050405020304" pitchFamily="18" charset="0"/>
              </a:rPr>
              <a:t>								</a:t>
            </a:r>
          </a:p>
          <a:p>
            <a:pPr>
              <a:lnSpc>
                <a:spcPct val="107000"/>
              </a:lnSpc>
              <a:spcAft>
                <a:spcPts val="800"/>
              </a:spcAft>
            </a:pPr>
            <a:r>
              <a:rPr lang="en-IN" sz="1200" b="1" kern="100" dirty="0">
                <a:ln w="0"/>
                <a:solidFill>
                  <a:schemeClr val="bg2">
                    <a:lumMod val="50000"/>
                  </a:schemeClr>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Times New Roman" panose="02020603050405020304" pitchFamily="18" charset="0"/>
              </a:rPr>
              <a:t>								</a:t>
            </a:r>
            <a:r>
              <a:rPr lang="en-IN" sz="2600" b="1" u="sng" kern="100" dirty="0">
                <a:ln w="0"/>
                <a:solidFill>
                  <a:schemeClr val="bg2">
                    <a:lumMod val="50000"/>
                  </a:schemeClr>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Times New Roman" panose="02020603050405020304" pitchFamily="18" charset="0"/>
              </a:rPr>
              <a:t>Introduction</a:t>
            </a:r>
          </a:p>
          <a:p>
            <a:pPr>
              <a:lnSpc>
                <a:spcPct val="107000"/>
              </a:lnSpc>
              <a:spcAft>
                <a:spcPts val="800"/>
              </a:spcAft>
            </a:pPr>
            <a:endParaRPr lang="en-IN" sz="2600" b="1" kern="100" dirty="0">
              <a:ln w="0"/>
              <a:solidFill>
                <a:schemeClr val="bg2">
                  <a:lumMod val="50000"/>
                </a:schemeClr>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Times New Roman" panose="02020603050405020304" pitchFamily="18" charset="0"/>
            </a:endParaRPr>
          </a:p>
          <a:p>
            <a:pPr algn="just">
              <a:lnSpc>
                <a:spcPct val="107000"/>
              </a:lnSpc>
              <a:spcAft>
                <a:spcPts val="800"/>
              </a:spcAft>
              <a:buNone/>
            </a:pPr>
            <a:r>
              <a:rPr lang="en-IN" sz="1600" kern="100" dirty="0" err="1">
                <a:effectLst/>
                <a:latin typeface="Cambria" panose="02040503050406030204" pitchFamily="18" charset="0"/>
                <a:ea typeface="Cambria" panose="02040503050406030204" pitchFamily="18" charset="0"/>
                <a:cs typeface="Times New Roman" panose="02020603050405020304" pitchFamily="18" charset="0"/>
              </a:rPr>
              <a:t>Nykaa</a:t>
            </a:r>
            <a:r>
              <a:rPr lang="en-IN" sz="1600" kern="100" dirty="0">
                <a:effectLst/>
                <a:latin typeface="Cambria" panose="02040503050406030204" pitchFamily="18" charset="0"/>
                <a:ea typeface="Cambria" panose="02040503050406030204" pitchFamily="18" charset="0"/>
                <a:cs typeface="Times New Roman" panose="02020603050405020304" pitchFamily="18" charset="0"/>
              </a:rPr>
              <a:t> is one of India's leading beauty and personal care e-commerce platforms, offering a wide range of skincare, haircare, makeup, perfumes, and wellness products. As the business grows, </a:t>
            </a:r>
            <a:r>
              <a:rPr lang="en-IN" sz="1600" kern="100" dirty="0" err="1">
                <a:effectLst/>
                <a:latin typeface="Cambria" panose="02040503050406030204" pitchFamily="18" charset="0"/>
                <a:ea typeface="Cambria" panose="02040503050406030204" pitchFamily="18" charset="0"/>
                <a:cs typeface="Times New Roman" panose="02020603050405020304" pitchFamily="18" charset="0"/>
              </a:rPr>
              <a:t>analyzing</a:t>
            </a:r>
            <a:r>
              <a:rPr lang="en-IN" sz="1600" kern="100" dirty="0">
                <a:effectLst/>
                <a:latin typeface="Cambria" panose="02040503050406030204" pitchFamily="18" charset="0"/>
                <a:ea typeface="Cambria" panose="02040503050406030204" pitchFamily="18" charset="0"/>
                <a:cs typeface="Times New Roman" panose="02020603050405020304" pitchFamily="18" charset="0"/>
              </a:rPr>
              <a:t> sales and customer data becomes essential for understanding customer behaviour, tracking product performance, and improving business decisions.</a:t>
            </a:r>
          </a:p>
          <a:p>
            <a:pPr algn="just">
              <a:lnSpc>
                <a:spcPct val="107000"/>
              </a:lnSpc>
              <a:spcAft>
                <a:spcPts val="800"/>
              </a:spcAft>
              <a:buNone/>
            </a:pPr>
            <a:r>
              <a:rPr lang="en-IN" sz="1600" dirty="0">
                <a:latin typeface="Cambria" panose="02040503050406030204" pitchFamily="18" charset="0"/>
                <a:ea typeface="Cambria" panose="02040503050406030204" pitchFamily="18" charset="0"/>
              </a:rPr>
              <a:t>This project focuses on designing and managing a </a:t>
            </a:r>
            <a:r>
              <a:rPr lang="en-IN" sz="1600" b="1" dirty="0" err="1">
                <a:latin typeface="Cambria" panose="02040503050406030204" pitchFamily="18" charset="0"/>
                <a:ea typeface="Cambria" panose="02040503050406030204" pitchFamily="18" charset="0"/>
              </a:rPr>
              <a:t>Nykaa</a:t>
            </a:r>
            <a:r>
              <a:rPr lang="en-IN" sz="1600" b="1" dirty="0">
                <a:latin typeface="Cambria" panose="02040503050406030204" pitchFamily="18" charset="0"/>
                <a:ea typeface="Cambria" panose="02040503050406030204" pitchFamily="18" charset="0"/>
              </a:rPr>
              <a:t> Sales Database</a:t>
            </a:r>
            <a:r>
              <a:rPr lang="en-IN" sz="1600" dirty="0">
                <a:latin typeface="Cambria" panose="02040503050406030204" pitchFamily="18" charset="0"/>
                <a:ea typeface="Cambria" panose="02040503050406030204" pitchFamily="18" charset="0"/>
              </a:rPr>
              <a:t> using SQL. It includes creating a relational database, inserting sample data, and performing various SQL operations such as filtering, sorting, grouping, joins, subqueries, and aggregate functions. The project </a:t>
            </a:r>
            <a:r>
              <a:rPr lang="en-IN" sz="1600" dirty="0" err="1">
                <a:latin typeface="Cambria" panose="02040503050406030204" pitchFamily="18" charset="0"/>
                <a:ea typeface="Cambria" panose="02040503050406030204" pitchFamily="18" charset="0"/>
              </a:rPr>
              <a:t>analyzes</a:t>
            </a:r>
            <a:r>
              <a:rPr lang="en-IN" sz="1600" dirty="0">
                <a:latin typeface="Cambria" panose="02040503050406030204" pitchFamily="18" charset="0"/>
                <a:ea typeface="Cambria" panose="02040503050406030204" pitchFamily="18" charset="0"/>
              </a:rPr>
              <a:t> customer, product, order, and review data to generate meaningful business insights and demonstrate practical SQL skills used in real-world data analysis</a:t>
            </a:r>
          </a:p>
          <a:p>
            <a:pPr algn="just">
              <a:lnSpc>
                <a:spcPct val="107000"/>
              </a:lnSpc>
              <a:spcAft>
                <a:spcPts val="800"/>
              </a:spcAft>
              <a:buNone/>
            </a:pPr>
            <a:endParaRPr lang="en-IN" sz="1400" kern="100" dirty="0">
              <a:effectLst/>
              <a:latin typeface="Cambria" panose="02040503050406030204" pitchFamily="18" charset="0"/>
              <a:ea typeface="Cambria" panose="02040503050406030204" pitchFamily="18" charset="0"/>
              <a:cs typeface="Times New Roman" panose="02020603050405020304" pitchFamily="18" charset="0"/>
            </a:endParaRPr>
          </a:p>
          <a:p>
            <a:pPr algn="just">
              <a:lnSpc>
                <a:spcPct val="107000"/>
              </a:lnSpc>
              <a:spcAft>
                <a:spcPts val="800"/>
              </a:spcAft>
              <a:buNone/>
            </a:pPr>
            <a:endParaRPr lang="en-IN" sz="1200" kern="1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956718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122B62-C24A-F623-AD0A-F2EEF53A7CED}"/>
              </a:ext>
            </a:extLst>
          </p:cNvPr>
          <p:cNvSpPr txBox="1"/>
          <p:nvPr/>
        </p:nvSpPr>
        <p:spPr>
          <a:xfrm>
            <a:off x="1268361" y="1150374"/>
            <a:ext cx="9114504" cy="4278094"/>
          </a:xfrm>
          <a:prstGeom prst="rect">
            <a:avLst/>
          </a:prstGeom>
          <a:ln/>
        </p:spPr>
        <p:style>
          <a:lnRef idx="2">
            <a:schemeClr val="dk1"/>
          </a:lnRef>
          <a:fillRef idx="1">
            <a:schemeClr val="lt1"/>
          </a:fillRef>
          <a:effectRef idx="0">
            <a:schemeClr val="dk1"/>
          </a:effectRef>
          <a:fontRef idx="minor">
            <a:schemeClr val="dk1"/>
          </a:fontRef>
        </p:style>
        <p:txBody>
          <a:bodyPr wrap="square" rtlCol="0">
            <a:spAutoFit/>
          </a:bodyPr>
          <a:lstStyle/>
          <a:p>
            <a:r>
              <a:rPr lang="en-IN" sz="2000" dirty="0">
                <a:solidFill>
                  <a:schemeClr val="bg2">
                    <a:lumMod val="50000"/>
                  </a:schemeClr>
                </a:solidFill>
                <a:latin typeface="Cambria" panose="02040503050406030204" pitchFamily="18" charset="0"/>
                <a:ea typeface="Cambria" panose="02040503050406030204" pitchFamily="18" charset="0"/>
              </a:rPr>
              <a:t>🎯 </a:t>
            </a:r>
            <a:r>
              <a:rPr lang="en-IN" sz="2000" b="1" dirty="0">
                <a:solidFill>
                  <a:schemeClr val="bg2">
                    <a:lumMod val="50000"/>
                  </a:schemeClr>
                </a:solidFill>
                <a:latin typeface="Cambria" panose="02040503050406030204" pitchFamily="18" charset="0"/>
                <a:ea typeface="Cambria" panose="02040503050406030204" pitchFamily="18" charset="0"/>
              </a:rPr>
              <a:t>Project Objectives</a:t>
            </a:r>
          </a:p>
          <a:p>
            <a:endParaRPr lang="en-IN" dirty="0">
              <a:latin typeface="Cambria" panose="02040503050406030204" pitchFamily="18" charset="0"/>
              <a:ea typeface="Cambria" panose="02040503050406030204" pitchFamily="18" charset="0"/>
            </a:endParaRPr>
          </a:p>
          <a:p>
            <a:pPr marL="342900" lvl="0" indent="-342900">
              <a:buFont typeface="Wingdings" panose="05000000000000000000" pitchFamily="2" charset="2"/>
              <a:buChar char="Ø"/>
            </a:pPr>
            <a:r>
              <a:rPr lang="en-IN" dirty="0">
                <a:latin typeface="Cambria" panose="02040503050406030204" pitchFamily="18" charset="0"/>
                <a:ea typeface="Cambria" panose="02040503050406030204" pitchFamily="18" charset="0"/>
              </a:rPr>
              <a:t>To create a relational database for </a:t>
            </a:r>
            <a:r>
              <a:rPr lang="en-IN" dirty="0" err="1">
                <a:latin typeface="Cambria" panose="02040503050406030204" pitchFamily="18" charset="0"/>
                <a:ea typeface="Cambria" panose="02040503050406030204" pitchFamily="18" charset="0"/>
              </a:rPr>
              <a:t>Nykaa</a:t>
            </a:r>
            <a:r>
              <a:rPr lang="en-IN" dirty="0">
                <a:latin typeface="Cambria" panose="02040503050406030204" pitchFamily="18" charset="0"/>
                <a:ea typeface="Cambria" panose="02040503050406030204" pitchFamily="18" charset="0"/>
              </a:rPr>
              <a:t> sales data using SQL. </a:t>
            </a:r>
          </a:p>
          <a:p>
            <a:pPr marL="342900" lvl="0" indent="-342900">
              <a:buFont typeface="Wingdings" panose="05000000000000000000" pitchFamily="2" charset="2"/>
              <a:buChar char="Ø"/>
            </a:pPr>
            <a:endParaRPr lang="en-IN" dirty="0">
              <a:latin typeface="Cambria" panose="02040503050406030204" pitchFamily="18" charset="0"/>
              <a:ea typeface="Cambria" panose="02040503050406030204" pitchFamily="18" charset="0"/>
            </a:endParaRPr>
          </a:p>
          <a:p>
            <a:pPr marL="342900" lvl="0" indent="-342900">
              <a:buFont typeface="Wingdings" panose="05000000000000000000" pitchFamily="2" charset="2"/>
              <a:buChar char="Ø"/>
            </a:pPr>
            <a:r>
              <a:rPr lang="en-IN" dirty="0">
                <a:latin typeface="Cambria" panose="02040503050406030204" pitchFamily="18" charset="0"/>
                <a:ea typeface="Cambria" panose="02040503050406030204" pitchFamily="18" charset="0"/>
              </a:rPr>
              <a:t>To store and manage customer, product, order, category, and review information. </a:t>
            </a:r>
          </a:p>
          <a:p>
            <a:pPr marL="342900" lvl="0" indent="-342900">
              <a:buFont typeface="Wingdings" panose="05000000000000000000" pitchFamily="2" charset="2"/>
              <a:buChar char="Ø"/>
            </a:pPr>
            <a:endParaRPr lang="en-IN" dirty="0">
              <a:latin typeface="Cambria" panose="02040503050406030204" pitchFamily="18" charset="0"/>
              <a:ea typeface="Cambria" panose="02040503050406030204" pitchFamily="18" charset="0"/>
            </a:endParaRPr>
          </a:p>
          <a:p>
            <a:pPr marL="342900" lvl="0" indent="-342900">
              <a:buFont typeface="Wingdings" panose="05000000000000000000" pitchFamily="2" charset="2"/>
              <a:buChar char="Ø"/>
            </a:pPr>
            <a:r>
              <a:rPr lang="en-IN" dirty="0">
                <a:latin typeface="Cambria" panose="02040503050406030204" pitchFamily="18" charset="0"/>
                <a:ea typeface="Cambria" panose="02040503050406030204" pitchFamily="18" charset="0"/>
              </a:rPr>
              <a:t>To perform data analysis using SQL queries such as SELECT, WHERE, GROUP BY, HAVING, and </a:t>
            </a:r>
          </a:p>
          <a:p>
            <a:pPr marL="342900" lvl="0" indent="-342900">
              <a:buFont typeface="Wingdings" panose="05000000000000000000" pitchFamily="2" charset="2"/>
              <a:buChar char="Ø"/>
            </a:pPr>
            <a:r>
              <a:rPr lang="en-IN" dirty="0">
                <a:latin typeface="Cambria" panose="02040503050406030204" pitchFamily="18" charset="0"/>
                <a:ea typeface="Cambria" panose="02040503050406030204" pitchFamily="18" charset="0"/>
              </a:rPr>
              <a:t>ORDER BY. </a:t>
            </a:r>
          </a:p>
          <a:p>
            <a:pPr marL="342900" lvl="0" indent="-342900">
              <a:buFont typeface="Wingdings" panose="05000000000000000000" pitchFamily="2" charset="2"/>
              <a:buChar char="Ø"/>
            </a:pPr>
            <a:endParaRPr lang="en-IN" dirty="0">
              <a:latin typeface="Cambria" panose="02040503050406030204" pitchFamily="18" charset="0"/>
              <a:ea typeface="Cambria" panose="02040503050406030204" pitchFamily="18" charset="0"/>
            </a:endParaRPr>
          </a:p>
          <a:p>
            <a:pPr marL="342900" lvl="0" indent="-342900">
              <a:buFont typeface="Wingdings" panose="05000000000000000000" pitchFamily="2" charset="2"/>
              <a:buChar char="Ø"/>
            </a:pPr>
            <a:r>
              <a:rPr lang="en-IN" dirty="0">
                <a:latin typeface="Cambria" panose="02040503050406030204" pitchFamily="18" charset="0"/>
                <a:ea typeface="Cambria" panose="02040503050406030204" pitchFamily="18" charset="0"/>
              </a:rPr>
              <a:t>To retrieve meaningful business insights using Joins, Subqueries, Aggregate Functions, CTEs, and Window Functions. </a:t>
            </a:r>
          </a:p>
          <a:p>
            <a:pPr marL="342900" lvl="0" indent="-342900">
              <a:buFont typeface="Wingdings" panose="05000000000000000000" pitchFamily="2" charset="2"/>
              <a:buChar char="Ø"/>
            </a:pPr>
            <a:endParaRPr lang="en-IN" dirty="0">
              <a:latin typeface="Cambria" panose="02040503050406030204" pitchFamily="18" charset="0"/>
              <a:ea typeface="Cambria" panose="02040503050406030204" pitchFamily="18" charset="0"/>
            </a:endParaRPr>
          </a:p>
          <a:p>
            <a:pPr marL="342900" lvl="0" indent="-342900">
              <a:buFont typeface="Wingdings" panose="05000000000000000000" pitchFamily="2" charset="2"/>
              <a:buChar char="Ø"/>
            </a:pPr>
            <a:r>
              <a:rPr lang="en-IN" dirty="0">
                <a:latin typeface="Cambria" panose="02040503050406030204" pitchFamily="18" charset="0"/>
                <a:ea typeface="Cambria" panose="02040503050406030204" pitchFamily="18" charset="0"/>
              </a:rPr>
              <a:t>To understand and apply real-world SQL concepts for solving business-related problems. </a:t>
            </a:r>
          </a:p>
        </p:txBody>
      </p:sp>
    </p:spTree>
    <p:extLst>
      <p:ext uri="{BB962C8B-B14F-4D97-AF65-F5344CB8AC3E}">
        <p14:creationId xmlns:p14="http://schemas.microsoft.com/office/powerpoint/2010/main" val="2827901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F19FD-63D0-370D-4CD5-B314F4E75B95}"/>
              </a:ext>
            </a:extLst>
          </p:cNvPr>
          <p:cNvSpPr txBox="1"/>
          <p:nvPr/>
        </p:nvSpPr>
        <p:spPr>
          <a:xfrm>
            <a:off x="811750" y="716771"/>
            <a:ext cx="5589049" cy="492443"/>
          </a:xfrm>
          <a:prstGeom prst="rect">
            <a:avLst/>
          </a:prstGeom>
          <a:noFill/>
        </p:spPr>
        <p:txBody>
          <a:bodyPr wrap="square" rtlCol="0">
            <a:spAutoFit/>
          </a:bodyPr>
          <a:lstStyle/>
          <a:p>
            <a:r>
              <a:rPr lang="en-US" sz="2600" b="1" dirty="0">
                <a:solidFill>
                  <a:schemeClr val="bg2">
                    <a:lumMod val="25000"/>
                  </a:schemeClr>
                </a:solidFill>
                <a:latin typeface="Cambria" panose="02040503050406030204" pitchFamily="18" charset="0"/>
                <a:ea typeface="Cambria" panose="02040503050406030204" pitchFamily="18" charset="0"/>
              </a:rPr>
              <a:t>Entity-Relationship</a:t>
            </a:r>
            <a:r>
              <a:rPr lang="en-US" sz="2600" b="1" dirty="0">
                <a:solidFill>
                  <a:schemeClr val="bg2">
                    <a:lumMod val="50000"/>
                  </a:schemeClr>
                </a:solidFill>
                <a:latin typeface="Cambria" panose="02040503050406030204" pitchFamily="18" charset="0"/>
                <a:ea typeface="Cambria" panose="02040503050406030204" pitchFamily="18" charset="0"/>
              </a:rPr>
              <a:t> (ER) Diagram :</a:t>
            </a:r>
            <a:endParaRPr lang="en-IN" sz="2600" b="1" dirty="0">
              <a:solidFill>
                <a:schemeClr val="bg2">
                  <a:lumMod val="50000"/>
                </a:schemeClr>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64EEDD0B-5FEF-2E05-838E-10F0E9E7D3D2}"/>
              </a:ext>
            </a:extLst>
          </p:cNvPr>
          <p:cNvPicPr>
            <a:picLocks noChangeAspect="1"/>
          </p:cNvPicPr>
          <p:nvPr/>
        </p:nvPicPr>
        <p:blipFill>
          <a:blip r:embed="rId2"/>
          <a:stretch>
            <a:fillRect/>
          </a:stretch>
        </p:blipFill>
        <p:spPr>
          <a:xfrm>
            <a:off x="1474839" y="1546614"/>
            <a:ext cx="8603225" cy="4358641"/>
          </a:xfrm>
          <a:prstGeom prst="rect">
            <a:avLst/>
          </a:prstGeom>
          <a:ln>
            <a:solidFill>
              <a:schemeClr val="bg2">
                <a:lumMod val="50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802995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4ACA1A-EF4B-C953-0271-59A1D652C6A5}"/>
              </a:ext>
            </a:extLst>
          </p:cNvPr>
          <p:cNvSpPr txBox="1"/>
          <p:nvPr/>
        </p:nvSpPr>
        <p:spPr>
          <a:xfrm>
            <a:off x="1513839" y="696381"/>
            <a:ext cx="6096000" cy="498855"/>
          </a:xfrm>
          <a:prstGeom prst="rect">
            <a:avLst/>
          </a:prstGeom>
          <a:noFill/>
        </p:spPr>
        <p:txBody>
          <a:bodyPr wrap="square">
            <a:spAutoFit/>
          </a:bodyPr>
          <a:lstStyle/>
          <a:p>
            <a:pPr algn="just">
              <a:lnSpc>
                <a:spcPct val="107000"/>
              </a:lnSpc>
              <a:spcAft>
                <a:spcPts val="800"/>
              </a:spcAft>
              <a:buNone/>
            </a:pPr>
            <a:r>
              <a:rPr lang="en-IN" sz="2600" b="1"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rPr>
              <a:t>Creating</a:t>
            </a:r>
            <a:r>
              <a:rPr lang="en-IN" sz="2600" b="1" kern="100" dirty="0">
                <a:solidFill>
                  <a:schemeClr val="bg2">
                    <a:lumMod val="50000"/>
                  </a:schemeClr>
                </a:solidFill>
                <a:effectLst/>
                <a:latin typeface="Cambria" panose="02040503050406030204" pitchFamily="18" charset="0"/>
                <a:ea typeface="Cambria" panose="02040503050406030204" pitchFamily="18" charset="0"/>
                <a:cs typeface="Times New Roman" panose="02020603050405020304" pitchFamily="18" charset="0"/>
              </a:rPr>
              <a:t> Database :</a:t>
            </a:r>
            <a:endParaRPr lang="en-IN" sz="2600" kern="100" dirty="0">
              <a:solidFill>
                <a:schemeClr val="bg2">
                  <a:lumMod val="50000"/>
                </a:schemeClr>
              </a:solidFill>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20F731C-CC2C-5E96-0A18-3CE691DCAF3D}"/>
              </a:ext>
            </a:extLst>
          </p:cNvPr>
          <p:cNvSpPr txBox="1"/>
          <p:nvPr/>
        </p:nvSpPr>
        <p:spPr>
          <a:xfrm>
            <a:off x="1513840" y="1391499"/>
            <a:ext cx="4070883" cy="880434"/>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CREATE DATABASE </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NykaaDB</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USE </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NykaaDB</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Show databases;</a:t>
            </a:r>
          </a:p>
        </p:txBody>
      </p:sp>
      <p:pic>
        <p:nvPicPr>
          <p:cNvPr id="8" name="Picture 7">
            <a:extLst>
              <a:ext uri="{FF2B5EF4-FFF2-40B4-BE49-F238E27FC236}">
                <a16:creationId xmlns:a16="http://schemas.microsoft.com/office/drawing/2014/main" id="{4EAB5AEB-2F07-E6BE-B274-41D27283BA51}"/>
              </a:ext>
            </a:extLst>
          </p:cNvPr>
          <p:cNvPicPr>
            <a:picLocks noChangeAspect="1"/>
          </p:cNvPicPr>
          <p:nvPr/>
        </p:nvPicPr>
        <p:blipFill>
          <a:blip r:embed="rId2"/>
          <a:stretch>
            <a:fillRect/>
          </a:stretch>
        </p:blipFill>
        <p:spPr>
          <a:xfrm>
            <a:off x="1513839" y="2664459"/>
            <a:ext cx="6214315" cy="3195567"/>
          </a:xfrm>
          <a:prstGeom prst="rect">
            <a:avLst/>
          </a:prstGeom>
          <a:ln>
            <a:solidFill>
              <a:schemeClr val="bg2">
                <a:lumMod val="50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936764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9DB516-9101-01BB-0BD1-4E4793C9DBF1}"/>
              </a:ext>
            </a:extLst>
          </p:cNvPr>
          <p:cNvSpPr txBox="1"/>
          <p:nvPr/>
        </p:nvSpPr>
        <p:spPr>
          <a:xfrm>
            <a:off x="1245091" y="597813"/>
            <a:ext cx="6096000" cy="36708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b="1" kern="100" dirty="0">
                <a:solidFill>
                  <a:schemeClr val="bg2">
                    <a:lumMod val="25000"/>
                  </a:schemeClr>
                </a:solidFill>
                <a:effectLst/>
                <a:latin typeface="Cambria" panose="02040503050406030204" pitchFamily="18" charset="0"/>
                <a:ea typeface="Cambria" panose="02040503050406030204" pitchFamily="18" charset="0"/>
                <a:cs typeface="Segoe UI Emoji" panose="020B0502040204020203" pitchFamily="34" charset="0"/>
              </a:rPr>
              <a:t>🏗️</a:t>
            </a:r>
            <a:r>
              <a:rPr lang="en-IN" b="1"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rPr>
              <a:t> Data Definition Language (DDL)</a:t>
            </a:r>
            <a:endParaRPr lang="en-IN"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004B9EF-815F-017B-0C37-FD7A8DC55FE2}"/>
              </a:ext>
            </a:extLst>
          </p:cNvPr>
          <p:cNvSpPr txBox="1"/>
          <p:nvPr/>
        </p:nvSpPr>
        <p:spPr>
          <a:xfrm>
            <a:off x="1245091" y="1937980"/>
            <a:ext cx="4201981" cy="2982035"/>
          </a:xfrm>
          <a:prstGeom prst="rect">
            <a:avLst/>
          </a:prstGeom>
          <a:solidFill>
            <a:schemeClr val="accent2">
              <a:lumMod val="20000"/>
              <a:lumOff val="80000"/>
            </a:schemeClr>
          </a:solidFill>
          <a:effectLst>
            <a:outerShdw blurRad="50800" dist="38100" dir="5400000" algn="t"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CREATE TABLE Customers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CustomerID</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INT PRIMARY KEY,</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CustomerName</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VARCHAR(50),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Gender VARCHAR(10),</a:t>
            </a: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City VARCHAR(30),</a:t>
            </a: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State VARCHAR(30),</a:t>
            </a:r>
          </a:p>
          <a:p>
            <a:pPr algn="just">
              <a:lnSpc>
                <a:spcPct val="107000"/>
              </a:lnSpc>
              <a:spcAft>
                <a:spcPts val="800"/>
              </a:spcAft>
              <a:buNone/>
            </a:pPr>
            <a:r>
              <a:rPr lang="en-IN" sz="1200" b="1" kern="100" dirty="0" err="1">
                <a:effectLst/>
                <a:latin typeface="Consolas" panose="020B0609020204030204" pitchFamily="49" charset="0"/>
                <a:ea typeface="Calibri" panose="020F0502020204030204" pitchFamily="34" charset="0"/>
                <a:cs typeface="Times New Roman" panose="02020603050405020304" pitchFamily="18" charset="0"/>
              </a:rPr>
              <a:t>JoinDate</a:t>
            </a: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 DATE</a:t>
            </a: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desc</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Customers;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F8A40BE1-3306-3C63-5E4D-E35C7A9D0F58}"/>
              </a:ext>
            </a:extLst>
          </p:cNvPr>
          <p:cNvPicPr>
            <a:picLocks noChangeAspect="1"/>
          </p:cNvPicPr>
          <p:nvPr/>
        </p:nvPicPr>
        <p:blipFill>
          <a:blip r:embed="rId2"/>
          <a:stretch>
            <a:fillRect/>
          </a:stretch>
        </p:blipFill>
        <p:spPr>
          <a:xfrm>
            <a:off x="6027174" y="1937979"/>
            <a:ext cx="4591665" cy="2982035"/>
          </a:xfrm>
          <a:prstGeom prst="rect">
            <a:avLst/>
          </a:prstGeom>
          <a:ln>
            <a:solidFill>
              <a:schemeClr val="tx1"/>
            </a:solidFill>
          </a:ln>
          <a:effectLst>
            <a:outerShdw blurRad="50800" dist="38100" dir="5400000" algn="t" rotWithShape="0">
              <a:prstClr val="black">
                <a:alpha val="40000"/>
              </a:prstClr>
            </a:outerShdw>
          </a:effectLst>
        </p:spPr>
      </p:pic>
      <p:sp>
        <p:nvSpPr>
          <p:cNvPr id="2" name="TextBox 1">
            <a:extLst>
              <a:ext uri="{FF2B5EF4-FFF2-40B4-BE49-F238E27FC236}">
                <a16:creationId xmlns:a16="http://schemas.microsoft.com/office/drawing/2014/main" id="{5CF550C5-8DBB-5DD9-9D4F-79FB2ABD7413}"/>
              </a:ext>
            </a:extLst>
          </p:cNvPr>
          <p:cNvSpPr txBox="1"/>
          <p:nvPr/>
        </p:nvSpPr>
        <p:spPr>
          <a:xfrm>
            <a:off x="1245091" y="1053223"/>
            <a:ext cx="4621160" cy="646331"/>
          </a:xfrm>
          <a:prstGeom prst="rect">
            <a:avLst/>
          </a:prstGeom>
          <a:noFill/>
        </p:spPr>
        <p:txBody>
          <a:bodyPr wrap="square" rtlCol="0">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A) Creating Table Customer</a:t>
            </a:r>
          </a:p>
          <a:p>
            <a:endParaRPr lang="en-IN" dirty="0"/>
          </a:p>
        </p:txBody>
      </p:sp>
    </p:spTree>
    <p:extLst>
      <p:ext uri="{BB962C8B-B14F-4D97-AF65-F5344CB8AC3E}">
        <p14:creationId xmlns:p14="http://schemas.microsoft.com/office/powerpoint/2010/main" val="1021564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D73EC1-4D66-1552-6CF9-FFF3AB4CB618}"/>
              </a:ext>
            </a:extLst>
          </p:cNvPr>
          <p:cNvSpPr txBox="1"/>
          <p:nvPr/>
        </p:nvSpPr>
        <p:spPr>
          <a:xfrm>
            <a:off x="1066799" y="1423101"/>
            <a:ext cx="4291781" cy="178119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lvl="0" algn="just">
              <a:lnSpc>
                <a:spcPct val="107000"/>
              </a:lnSpc>
              <a:spcAft>
                <a:spcPts val="800"/>
              </a:spcAft>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CREATE TABLE Categories</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CategoryID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INT PRIMARY KEY,</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CategoryName</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VARCHAR(40)</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desc</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Categories;</a:t>
            </a:r>
          </a:p>
        </p:txBody>
      </p:sp>
      <p:pic>
        <p:nvPicPr>
          <p:cNvPr id="4" name="Picture 3">
            <a:extLst>
              <a:ext uri="{FF2B5EF4-FFF2-40B4-BE49-F238E27FC236}">
                <a16:creationId xmlns:a16="http://schemas.microsoft.com/office/drawing/2014/main" id="{AD9D47B8-CB85-2B63-768A-C688535FA68E}"/>
              </a:ext>
            </a:extLst>
          </p:cNvPr>
          <p:cNvPicPr>
            <a:picLocks noChangeAspect="1"/>
          </p:cNvPicPr>
          <p:nvPr/>
        </p:nvPicPr>
        <p:blipFill>
          <a:blip r:embed="rId2"/>
          <a:stretch>
            <a:fillRect/>
          </a:stretch>
        </p:blipFill>
        <p:spPr>
          <a:xfrm>
            <a:off x="6017342" y="1423101"/>
            <a:ext cx="4594860" cy="2234499"/>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2FA90CB3-054F-5F83-1BE8-1B3CA81974C7}"/>
              </a:ext>
            </a:extLst>
          </p:cNvPr>
          <p:cNvSpPr txBox="1"/>
          <p:nvPr/>
        </p:nvSpPr>
        <p:spPr>
          <a:xfrm>
            <a:off x="1066799" y="592083"/>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B</a:t>
            </a:r>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 Creating Table </a:t>
            </a:r>
            <a:r>
              <a:rPr lang="en-IN" b="1" kern="100" dirty="0">
                <a:latin typeface="Consolas" panose="020B0609020204030204" pitchFamily="49" charset="0"/>
                <a:ea typeface="Cambria" panose="02040503050406030204" pitchFamily="18" charset="0"/>
                <a:cs typeface="Times New Roman" panose="02020603050405020304" pitchFamily="18" charset="0"/>
              </a:rPr>
              <a:t>Categories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237525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E9ADCD-E718-FF0B-9B21-E41F2664FE9D}"/>
              </a:ext>
            </a:extLst>
          </p:cNvPr>
          <p:cNvSpPr txBox="1"/>
          <p:nvPr/>
        </p:nvSpPr>
        <p:spPr>
          <a:xfrm>
            <a:off x="1056640" y="1309095"/>
            <a:ext cx="5039360" cy="3582456"/>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 </a:t>
            </a:r>
            <a:endParaRPr lang="en-IN" sz="1200" b="1" kern="100" dirty="0">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CREATE TABLE Products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ProductID</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INT PRIMARY KEY,</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ProductName VARCHAR(100),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err="1">
                <a:effectLst/>
                <a:latin typeface="Consolas" panose="020B0609020204030204" pitchFamily="49" charset="0"/>
                <a:ea typeface="Calibri" panose="020F0502020204030204" pitchFamily="34" charset="0"/>
                <a:cs typeface="Times New Roman" panose="02020603050405020304" pitchFamily="18" charset="0"/>
              </a:rPr>
              <a:t>CategoryID</a:t>
            </a: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 INT,</a:t>
            </a: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Brand VARCHAR(50),</a:t>
            </a: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Price DECIMAL(10,2),</a:t>
            </a: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Stock INT,</a:t>
            </a: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FOREIGN KEY(</a:t>
            </a: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CategoryID</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REFERENCES Categories(</a:t>
            </a: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CategoryID</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desc</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Products;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CB8E47B-BA03-56CB-43B8-3F712EAB252B}"/>
              </a:ext>
            </a:extLst>
          </p:cNvPr>
          <p:cNvPicPr>
            <a:picLocks noChangeAspect="1"/>
          </p:cNvPicPr>
          <p:nvPr/>
        </p:nvPicPr>
        <p:blipFill>
          <a:blip r:embed="rId2"/>
          <a:stretch>
            <a:fillRect/>
          </a:stretch>
        </p:blipFill>
        <p:spPr>
          <a:xfrm>
            <a:off x="6532880" y="1309094"/>
            <a:ext cx="4389120" cy="3582455"/>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A7308819-8752-1664-7EBF-3A21DABFDFE4}"/>
              </a:ext>
            </a:extLst>
          </p:cNvPr>
          <p:cNvSpPr txBox="1"/>
          <p:nvPr/>
        </p:nvSpPr>
        <p:spPr>
          <a:xfrm>
            <a:off x="1056640" y="490766"/>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C) Creating Table </a:t>
            </a:r>
            <a:r>
              <a:rPr lang="en-IN" b="1" kern="100" dirty="0">
                <a:latin typeface="Cambria" panose="02040503050406030204" pitchFamily="18" charset="0"/>
                <a:ea typeface="Cambria" panose="02040503050406030204" pitchFamily="18" charset="0"/>
                <a:cs typeface="Times New Roman" panose="02020603050405020304" pitchFamily="18" charset="0"/>
              </a:rPr>
              <a:t>Products</a:t>
            </a:r>
            <a:endPar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00830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53F7D4-96AA-351C-1137-D7A38696209D}"/>
              </a:ext>
            </a:extLst>
          </p:cNvPr>
          <p:cNvSpPr txBox="1"/>
          <p:nvPr/>
        </p:nvSpPr>
        <p:spPr>
          <a:xfrm>
            <a:off x="1085154" y="1638299"/>
            <a:ext cx="4420911" cy="287944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lvl="0" algn="just">
              <a:lnSpc>
                <a:spcPct val="107000"/>
              </a:lnSpc>
              <a:spcAft>
                <a:spcPts val="800"/>
              </a:spcAft>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CREATE TABLE Orders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OrderID INT PRIMARY KEY,</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CustomerID</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INT,</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OrderDate</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DATE,</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err="1">
                <a:effectLst/>
                <a:latin typeface="Consolas" panose="020B0609020204030204" pitchFamily="49" charset="0"/>
                <a:ea typeface="Calibri" panose="020F0502020204030204" pitchFamily="34" charset="0"/>
                <a:cs typeface="Times New Roman" panose="02020603050405020304" pitchFamily="18" charset="0"/>
              </a:rPr>
              <a:t>TotalAmount</a:t>
            </a: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 DECIMAL(10,2),</a:t>
            </a: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FOREIGN KEY(</a:t>
            </a: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CustomerID</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REFERENCES Customers(</a:t>
            </a: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CustomerID</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desc</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Orders;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7FE13314-F7D7-A8D4-3CC8-CCD6B02EEB52}"/>
              </a:ext>
            </a:extLst>
          </p:cNvPr>
          <p:cNvPicPr>
            <a:picLocks noChangeAspect="1"/>
          </p:cNvPicPr>
          <p:nvPr/>
        </p:nvPicPr>
        <p:blipFill>
          <a:blip r:embed="rId2"/>
          <a:stretch>
            <a:fillRect/>
          </a:stretch>
        </p:blipFill>
        <p:spPr>
          <a:xfrm>
            <a:off x="6249138" y="1638298"/>
            <a:ext cx="4495800" cy="2879443"/>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1F525DDF-8D06-4262-91F7-356C5F717907}"/>
              </a:ext>
            </a:extLst>
          </p:cNvPr>
          <p:cNvSpPr txBox="1"/>
          <p:nvPr/>
        </p:nvSpPr>
        <p:spPr>
          <a:xfrm>
            <a:off x="1085154" y="710069"/>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D) Creating Table </a:t>
            </a:r>
            <a:r>
              <a:rPr lang="en-IN" b="1" kern="100" dirty="0">
                <a:latin typeface="Cambria" panose="02040503050406030204" pitchFamily="18" charset="0"/>
                <a:ea typeface="Cambria" panose="02040503050406030204" pitchFamily="18" charset="0"/>
                <a:cs typeface="Times New Roman" panose="02020603050405020304" pitchFamily="18" charset="0"/>
              </a:rPr>
              <a:t>Orders</a:t>
            </a:r>
            <a:endPar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404069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EF2E39-F35A-C0DD-5712-43FCAA31CBA9}"/>
              </a:ext>
            </a:extLst>
          </p:cNvPr>
          <p:cNvSpPr txBox="1"/>
          <p:nvPr/>
        </p:nvSpPr>
        <p:spPr>
          <a:xfrm>
            <a:off x="853439" y="1679530"/>
            <a:ext cx="4957425" cy="3282245"/>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lvl="0" algn="just">
              <a:lnSpc>
                <a:spcPct val="107000"/>
              </a:lnSpc>
              <a:spcAft>
                <a:spcPts val="800"/>
              </a:spcAft>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E) CREATE TABLE </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OrderDetails</a:t>
            </a:r>
            <a:endParaRPr lang="en-IN" sz="1200" b="1" kern="100" dirty="0">
              <a:effectLst/>
              <a:latin typeface="Consolas" panose="020B0609020204030204" pitchFamily="49" charset="0"/>
              <a:ea typeface="Cambria" panose="02040503050406030204" pitchFamily="18"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OrderDetailID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INT PRIMARY KEY,</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OrderID INT,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ProductID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INT,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Quantity INT,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Discount DECIMAL(5,2),</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FOREIGN KEY(OrderID) REFERENCES Orders(OrderID),</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FOREIGN KEY(</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ProductID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REFERENCES Products(</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ProductID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desc</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OrderDetails</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97FC764D-52E3-4F74-7FF6-CC9D3C921D6C}"/>
              </a:ext>
            </a:extLst>
          </p:cNvPr>
          <p:cNvPicPr>
            <a:picLocks noChangeAspect="1"/>
          </p:cNvPicPr>
          <p:nvPr/>
        </p:nvPicPr>
        <p:blipFill>
          <a:blip r:embed="rId2"/>
          <a:stretch>
            <a:fillRect/>
          </a:stretch>
        </p:blipFill>
        <p:spPr>
          <a:xfrm>
            <a:off x="6490887" y="1679530"/>
            <a:ext cx="4957425" cy="3282245"/>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557B841D-7FAE-7DB7-20DB-D9AEDCB73C99}"/>
              </a:ext>
            </a:extLst>
          </p:cNvPr>
          <p:cNvSpPr txBox="1"/>
          <p:nvPr/>
        </p:nvSpPr>
        <p:spPr>
          <a:xfrm>
            <a:off x="853439" y="808392"/>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E</a:t>
            </a:r>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 Creating Table </a:t>
            </a:r>
            <a:r>
              <a:rPr lang="en-IN" b="1" kern="100" dirty="0" err="1">
                <a:latin typeface="Consolas" panose="020B0609020204030204" pitchFamily="49" charset="0"/>
                <a:ea typeface="Cambria" panose="02040503050406030204" pitchFamily="18" charset="0"/>
                <a:cs typeface="Times New Roman" panose="02020603050405020304" pitchFamily="18" charset="0"/>
              </a:rPr>
              <a:t>OrderDetails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23888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E74193-4379-9990-28F6-26F64DD99379}"/>
              </a:ext>
            </a:extLst>
          </p:cNvPr>
          <p:cNvSpPr txBox="1"/>
          <p:nvPr/>
        </p:nvSpPr>
        <p:spPr>
          <a:xfrm>
            <a:off x="994369" y="1732250"/>
            <a:ext cx="4590354" cy="3377271"/>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lvl="0" algn="just">
              <a:lnSpc>
                <a:spcPct val="107000"/>
              </a:lnSpc>
              <a:spcAft>
                <a:spcPts val="800"/>
              </a:spcAft>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CREATE TABLE Reviews</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ReviewID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INT PRIMARY KEY,</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CustomerID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INT,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ProductID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INT,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Rating INT,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FOREIGN KEY(</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CustomerID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REFERENCES Customers(</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CustomerID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FOREIGN KEY(</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ProductID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REFERENCES Products(</a:t>
            </a: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ProductID</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a:t>
            </a:r>
          </a:p>
          <a:p>
            <a:pPr algn="just">
              <a:lnSpc>
                <a:spcPct val="107000"/>
              </a:lnSpc>
              <a:spcAft>
                <a:spcPts val="800"/>
              </a:spcAft>
              <a:buNone/>
            </a:pPr>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desc</a:t>
            </a:r>
            <a:r>
              <a:rPr lang="en-IN" sz="1200" b="1" kern="100" dirty="0">
                <a:effectLst/>
                <a:latin typeface="Consolas" panose="020B0609020204030204" pitchFamily="49" charset="0"/>
                <a:ea typeface="Cambria" panose="02040503050406030204" pitchFamily="18" charset="0"/>
                <a:cs typeface="Times New Roman" panose="02020603050405020304" pitchFamily="18" charset="0"/>
              </a:rPr>
              <a:t> Reviews;</a:t>
            </a:r>
          </a:p>
        </p:txBody>
      </p:sp>
      <p:pic>
        <p:nvPicPr>
          <p:cNvPr id="4" name="Picture 3">
            <a:extLst>
              <a:ext uri="{FF2B5EF4-FFF2-40B4-BE49-F238E27FC236}">
                <a16:creationId xmlns:a16="http://schemas.microsoft.com/office/drawing/2014/main" id="{3DF51243-9694-FD28-A0CE-96266523D076}"/>
              </a:ext>
            </a:extLst>
          </p:cNvPr>
          <p:cNvPicPr>
            <a:picLocks noChangeAspect="1"/>
          </p:cNvPicPr>
          <p:nvPr/>
        </p:nvPicPr>
        <p:blipFill>
          <a:blip r:embed="rId2"/>
          <a:stretch>
            <a:fillRect/>
          </a:stretch>
        </p:blipFill>
        <p:spPr>
          <a:xfrm>
            <a:off x="6096000" y="1732249"/>
            <a:ext cx="5101632" cy="3377271"/>
          </a:xfrm>
          <a:prstGeom prst="rect">
            <a:avLst/>
          </a:prstGeom>
          <a:ln>
            <a:solidFill>
              <a:schemeClr val="tx1"/>
            </a:solidFill>
          </a:ln>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CCD76653-C991-96FE-F147-725626CA8836}"/>
              </a:ext>
            </a:extLst>
          </p:cNvPr>
          <p:cNvSpPr txBox="1"/>
          <p:nvPr/>
        </p:nvSpPr>
        <p:spPr>
          <a:xfrm>
            <a:off x="3048000" y="3292959"/>
            <a:ext cx="6096000" cy="276999"/>
          </a:xfrm>
          <a:prstGeom prst="rect">
            <a:avLst/>
          </a:prstGeom>
          <a:noFill/>
        </p:spPr>
        <p:txBody>
          <a:bodyPr wrap="square">
            <a:spAutoFit/>
          </a:bodyPr>
          <a:lstStyle/>
          <a:p>
            <a:r>
              <a:rPr lang="en-IN" sz="1200" b="1" kern="100" dirty="0" err="1">
                <a:effectLst/>
                <a:latin typeface="Consolas" panose="020B0609020204030204" pitchFamily="49" charset="0"/>
                <a:ea typeface="Cambria" panose="02040503050406030204" pitchFamily="18" charset="0"/>
                <a:cs typeface="Times New Roman" panose="02020603050405020304" pitchFamily="18" charset="0"/>
              </a:rPr>
              <a:t>OrderDetails</a:t>
            </a:r>
            <a:endParaRPr lang="en-IN" dirty="0"/>
          </a:p>
        </p:txBody>
      </p:sp>
      <p:sp>
        <p:nvSpPr>
          <p:cNvPr id="9" name="TextBox 8">
            <a:extLst>
              <a:ext uri="{FF2B5EF4-FFF2-40B4-BE49-F238E27FC236}">
                <a16:creationId xmlns:a16="http://schemas.microsoft.com/office/drawing/2014/main" id="{FDACEB93-EA74-842C-65D9-7EB4F68DAE69}"/>
              </a:ext>
            </a:extLst>
          </p:cNvPr>
          <p:cNvSpPr txBox="1"/>
          <p:nvPr/>
        </p:nvSpPr>
        <p:spPr>
          <a:xfrm>
            <a:off x="904567" y="926379"/>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F</a:t>
            </a:r>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 Creating Table </a:t>
            </a:r>
            <a:r>
              <a:rPr lang="en-IN" b="1" kern="100" dirty="0">
                <a:latin typeface="Cambria" panose="02040503050406030204" pitchFamily="18" charset="0"/>
                <a:ea typeface="Cambria" panose="02040503050406030204" pitchFamily="18" charset="0"/>
                <a:cs typeface="Times New Roman" panose="02020603050405020304" pitchFamily="18" charset="0"/>
              </a:rPr>
              <a:t>Reviews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970417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C06BDC-5408-EA39-8C4D-900B81FAA666}"/>
              </a:ext>
            </a:extLst>
          </p:cNvPr>
          <p:cNvSpPr txBox="1"/>
          <p:nvPr/>
        </p:nvSpPr>
        <p:spPr>
          <a:xfrm>
            <a:off x="722630" y="500413"/>
            <a:ext cx="6002635" cy="466794"/>
          </a:xfrm>
          <a:prstGeom prst="rect">
            <a:avLst/>
          </a:prstGeom>
        </p:spPr>
        <p:style>
          <a:lnRef idx="2">
            <a:schemeClr val="dk1"/>
          </a:lnRef>
          <a:fillRef idx="1">
            <a:schemeClr val="lt1"/>
          </a:fillRef>
          <a:effectRef idx="0">
            <a:schemeClr val="dk1"/>
          </a:effectRef>
          <a:fontRef idx="minor">
            <a:schemeClr val="dk1"/>
          </a:fontRef>
        </p:style>
        <p:txBody>
          <a:bodyPr wrap="square" anchor="ctr">
            <a:spAutoFit/>
          </a:bodyPr>
          <a:lstStyle/>
          <a:p>
            <a:pPr marL="12700" marR="1617345" indent="1905" algn="ctr">
              <a:lnSpc>
                <a:spcPct val="150000"/>
              </a:lnSpc>
              <a:spcAft>
                <a:spcPts val="800"/>
              </a:spcAft>
            </a:pPr>
            <a:r>
              <a:rPr lang="en-IN" b="1" kern="100" dirty="0">
                <a:solidFill>
                  <a:schemeClr val="bg2">
                    <a:lumMod val="25000"/>
                  </a:schemeClr>
                </a:solidFill>
                <a:effectLst/>
                <a:latin typeface="Cambria" panose="02040503050406030204" pitchFamily="18" charset="0"/>
                <a:ea typeface="Cambria" panose="02040503050406030204" pitchFamily="18" charset="0"/>
                <a:cs typeface="Segoe UI Emoji" panose="020B0502040204020203" pitchFamily="34" charset="0"/>
              </a:rPr>
              <a:t>📥</a:t>
            </a:r>
            <a:r>
              <a:rPr lang="en-IN" b="1"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rPr>
              <a:t> Data Manipulation Language (DML)</a:t>
            </a:r>
            <a:endParaRPr lang="en-IN"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5E31AEE-2A8B-9BE9-0647-641A077859F1}"/>
              </a:ext>
            </a:extLst>
          </p:cNvPr>
          <p:cNvSpPr txBox="1"/>
          <p:nvPr/>
        </p:nvSpPr>
        <p:spPr>
          <a:xfrm>
            <a:off x="722630" y="1969784"/>
            <a:ext cx="5375910" cy="2982035"/>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INSERT INTO Customers VALUES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(101,'Aisha','Female','Mumbai','Maharashtra','2023-01-15'),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(102,'Priya','Female','Pune','Maharashtra','2023-03-18'),</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(103,'Rahul','Male','Delhi','Delhi','2023-02-10'),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(104,'Sneha','Female','Bangalore','Karnataka','2024-01-05'),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(105,'Rohan','Male','Hyderabad','Telangana','2024-02-12'),</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(106,'Pooja','Female','Nagpur','Maharashtra','2024-03-25'),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(107,'Karan','Male','Jaipur','Rajasthan','2024-04-15'),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(108,'Neha','Female','Surat','Gujarat','2024-05-01');</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Select *from Customers;</a:t>
            </a:r>
          </a:p>
        </p:txBody>
      </p:sp>
      <p:pic>
        <p:nvPicPr>
          <p:cNvPr id="8" name="Picture 7">
            <a:extLst>
              <a:ext uri="{FF2B5EF4-FFF2-40B4-BE49-F238E27FC236}">
                <a16:creationId xmlns:a16="http://schemas.microsoft.com/office/drawing/2014/main" id="{F8E6F88C-BB7C-FD71-799B-9A1A3FAC46F8}"/>
              </a:ext>
            </a:extLst>
          </p:cNvPr>
          <p:cNvPicPr>
            <a:picLocks noChangeAspect="1"/>
          </p:cNvPicPr>
          <p:nvPr/>
        </p:nvPicPr>
        <p:blipFill>
          <a:blip r:embed="rId2"/>
          <a:stretch>
            <a:fillRect/>
          </a:stretch>
        </p:blipFill>
        <p:spPr>
          <a:xfrm>
            <a:off x="6493510" y="1969784"/>
            <a:ext cx="4975860" cy="2982035"/>
          </a:xfrm>
          <a:prstGeom prst="rect">
            <a:avLst/>
          </a:prstGeom>
          <a:ln>
            <a:solidFill>
              <a:schemeClr val="tx1"/>
            </a:solidFill>
          </a:ln>
          <a:effectLst>
            <a:outerShdw blurRad="50800" dist="38100" dir="5400000" algn="t" rotWithShape="0">
              <a:prstClr val="black">
                <a:alpha val="40000"/>
              </a:prstClr>
            </a:outerShdw>
          </a:effectLst>
        </p:spPr>
      </p:pic>
      <p:sp>
        <p:nvSpPr>
          <p:cNvPr id="3" name="TextBox 2">
            <a:extLst>
              <a:ext uri="{FF2B5EF4-FFF2-40B4-BE49-F238E27FC236}">
                <a16:creationId xmlns:a16="http://schemas.microsoft.com/office/drawing/2014/main" id="{155BD431-973A-9631-EDA9-FF67AC1E07A7}"/>
              </a:ext>
            </a:extLst>
          </p:cNvPr>
          <p:cNvSpPr txBox="1"/>
          <p:nvPr/>
        </p:nvSpPr>
        <p:spPr>
          <a:xfrm>
            <a:off x="629265" y="1249206"/>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A</a:t>
            </a:r>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 Inserting Into Customers</a:t>
            </a:r>
          </a:p>
        </p:txBody>
      </p:sp>
    </p:spTree>
    <p:extLst>
      <p:ext uri="{BB962C8B-B14F-4D97-AF65-F5344CB8AC3E}">
        <p14:creationId xmlns:p14="http://schemas.microsoft.com/office/powerpoint/2010/main" val="3690704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0AA27C-EF88-C5A7-7CBA-8BAD172FCCB5}"/>
              </a:ext>
            </a:extLst>
          </p:cNvPr>
          <p:cNvSpPr txBox="1"/>
          <p:nvPr/>
        </p:nvSpPr>
        <p:spPr>
          <a:xfrm>
            <a:off x="782320" y="1826130"/>
            <a:ext cx="5097370" cy="1781193"/>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INSERT INTO Categories VALUES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(1,'Skin Care'),</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(2,'Hair Care'),</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(3,'Makeup'),</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(4,'Perfume');</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Select *from Categories;</a:t>
            </a:r>
          </a:p>
        </p:txBody>
      </p:sp>
      <p:pic>
        <p:nvPicPr>
          <p:cNvPr id="4" name="Picture 3">
            <a:extLst>
              <a:ext uri="{FF2B5EF4-FFF2-40B4-BE49-F238E27FC236}">
                <a16:creationId xmlns:a16="http://schemas.microsoft.com/office/drawing/2014/main" id="{90B5B840-7E4A-9E20-89FE-9103E8170C06}"/>
              </a:ext>
            </a:extLst>
          </p:cNvPr>
          <p:cNvPicPr>
            <a:picLocks noChangeAspect="1"/>
          </p:cNvPicPr>
          <p:nvPr/>
        </p:nvPicPr>
        <p:blipFill>
          <a:blip r:embed="rId2"/>
          <a:stretch>
            <a:fillRect/>
          </a:stretch>
        </p:blipFill>
        <p:spPr>
          <a:xfrm>
            <a:off x="6459795" y="1826130"/>
            <a:ext cx="4286866" cy="1841715"/>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041A5EA2-028A-2FD1-1B7E-05A00AE663AB}"/>
              </a:ext>
            </a:extLst>
          </p:cNvPr>
          <p:cNvSpPr txBox="1"/>
          <p:nvPr/>
        </p:nvSpPr>
        <p:spPr>
          <a:xfrm>
            <a:off x="782320" y="1032896"/>
            <a:ext cx="6096000" cy="369332"/>
          </a:xfrm>
          <a:prstGeom prst="rect">
            <a:avLst/>
          </a:prstGeom>
          <a:noFill/>
        </p:spPr>
        <p:txBody>
          <a:bodyPr wrap="square">
            <a:spAutoFit/>
          </a:bodyPr>
          <a:lstStyle/>
          <a:p>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B) Inserting Into </a:t>
            </a:r>
            <a:r>
              <a:rPr lang="en-IN" b="1" kern="100" dirty="0">
                <a:latin typeface="Consolas" panose="020B0609020204030204" pitchFamily="49" charset="0"/>
                <a:ea typeface="Consolas" panose="020B0609020204030204" pitchFamily="49" charset="0"/>
                <a:cs typeface="Times New Roman" panose="02020603050405020304" pitchFamily="18" charset="0"/>
              </a:rPr>
              <a:t>Categories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006620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CD4AE9-8853-ED70-F4AA-2F7D4D0A3BCF}"/>
              </a:ext>
            </a:extLst>
          </p:cNvPr>
          <p:cNvSpPr txBox="1"/>
          <p:nvPr/>
        </p:nvSpPr>
        <p:spPr>
          <a:xfrm>
            <a:off x="934720" y="1535379"/>
            <a:ext cx="4866312" cy="2982035"/>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INSERT INTO Products VALUES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(201,'Lakme Foundation',3,'Lakme',650,100),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(202,'Maybelline Lipstick',3,'Maybelline',550,150),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(203,'Mamaearth Face Wash',1,'Mamaearth',299,200),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(204,'Minimalist Serum',1,'Minimalist',699,80),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(205,'LOreal Shampoo',2,'LOreal',450,120),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(206,'Dove Conditioner',2,'Dove',350,110),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(207,'Bella Vita Perfume',4,'Bella Vita',799,60),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(208,'Nykaa Kajal',3,'Nykaa',299,180);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Select *from Products;</a:t>
            </a:r>
          </a:p>
        </p:txBody>
      </p:sp>
      <p:pic>
        <p:nvPicPr>
          <p:cNvPr id="4" name="Picture 3">
            <a:extLst>
              <a:ext uri="{FF2B5EF4-FFF2-40B4-BE49-F238E27FC236}">
                <a16:creationId xmlns:a16="http://schemas.microsoft.com/office/drawing/2014/main" id="{8B6C8295-9338-2A34-43CC-9B23F4960C57}"/>
              </a:ext>
            </a:extLst>
          </p:cNvPr>
          <p:cNvPicPr>
            <a:picLocks noChangeAspect="1"/>
          </p:cNvPicPr>
          <p:nvPr/>
        </p:nvPicPr>
        <p:blipFill>
          <a:blip r:embed="rId2"/>
          <a:stretch>
            <a:fillRect/>
          </a:stretch>
        </p:blipFill>
        <p:spPr>
          <a:xfrm>
            <a:off x="6272981" y="1535378"/>
            <a:ext cx="4984299" cy="2982035"/>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DF7828C4-B40F-D8F6-67E1-36DEEC27DF7E}"/>
              </a:ext>
            </a:extLst>
          </p:cNvPr>
          <p:cNvSpPr txBox="1"/>
          <p:nvPr/>
        </p:nvSpPr>
        <p:spPr>
          <a:xfrm>
            <a:off x="782320" y="757593"/>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C</a:t>
            </a:r>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 Inserting Into </a:t>
            </a:r>
            <a:r>
              <a:rPr lang="en-IN" b="1" kern="100" dirty="0">
                <a:latin typeface="Consolas" panose="020B0609020204030204" pitchFamily="49" charset="0"/>
                <a:ea typeface="Consolas" panose="020B0609020204030204" pitchFamily="49" charset="0"/>
                <a:cs typeface="Times New Roman" panose="02020603050405020304" pitchFamily="18" charset="0"/>
              </a:rPr>
              <a:t>Products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950497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DB9343-3646-3CB9-43A6-0F9CB44F95B6}"/>
              </a:ext>
            </a:extLst>
          </p:cNvPr>
          <p:cNvSpPr txBox="1"/>
          <p:nvPr/>
        </p:nvSpPr>
        <p:spPr>
          <a:xfrm>
            <a:off x="955040" y="1454098"/>
            <a:ext cx="4893311" cy="2982035"/>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INSERT INTO Orders VALUES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(301,101,'2024-06-01',1200),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(302,102,'2024-06-02',850),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(303,103,'2024-06-05',999),</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(304,104,'2024-06-08',1500),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(305,105,'2024-06-10',699),</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(306,106,'2024-06-11',950),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(307,107,'2024-06-15',1800),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(308,108,'2024-06-20',799);</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Select *from Orders;</a:t>
            </a:r>
          </a:p>
        </p:txBody>
      </p:sp>
      <p:pic>
        <p:nvPicPr>
          <p:cNvPr id="4" name="Picture 3">
            <a:extLst>
              <a:ext uri="{FF2B5EF4-FFF2-40B4-BE49-F238E27FC236}">
                <a16:creationId xmlns:a16="http://schemas.microsoft.com/office/drawing/2014/main" id="{C566D711-0F88-8B98-8A70-5F347CCC53F2}"/>
              </a:ext>
            </a:extLst>
          </p:cNvPr>
          <p:cNvPicPr>
            <a:picLocks noChangeAspect="1"/>
          </p:cNvPicPr>
          <p:nvPr/>
        </p:nvPicPr>
        <p:blipFill>
          <a:blip r:embed="rId2"/>
          <a:stretch>
            <a:fillRect/>
          </a:stretch>
        </p:blipFill>
        <p:spPr>
          <a:xfrm>
            <a:off x="6343649" y="1454098"/>
            <a:ext cx="4688145" cy="2982035"/>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0AE3B2EF-D74A-A6A1-B8F8-3D1FDAA7662A}"/>
              </a:ext>
            </a:extLst>
          </p:cNvPr>
          <p:cNvSpPr txBox="1"/>
          <p:nvPr/>
        </p:nvSpPr>
        <p:spPr>
          <a:xfrm>
            <a:off x="860978" y="688767"/>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D</a:t>
            </a:r>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 Inserting Into </a:t>
            </a:r>
            <a:r>
              <a:rPr lang="en-IN" b="1" kern="100" dirty="0">
                <a:latin typeface="Consolas" panose="020B0609020204030204" pitchFamily="49" charset="0"/>
                <a:ea typeface="Consolas" panose="020B0609020204030204" pitchFamily="49" charset="0"/>
                <a:cs typeface="Times New Roman" panose="02020603050405020304" pitchFamily="18" charset="0"/>
              </a:rPr>
              <a:t>Orders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43395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6A62D8-E42F-1EAE-B031-98A848D07D4E}"/>
              </a:ext>
            </a:extLst>
          </p:cNvPr>
          <p:cNvSpPr txBox="1"/>
          <p:nvPr/>
        </p:nvSpPr>
        <p:spPr>
          <a:xfrm>
            <a:off x="900143" y="1554153"/>
            <a:ext cx="4798142" cy="3282245"/>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INSERT INTO </a:t>
            </a:r>
            <a:r>
              <a:rPr lang="en-IN" sz="1200" b="1" kern="100" dirty="0" err="1">
                <a:effectLst/>
                <a:latin typeface="Consolas" panose="020B0609020204030204" pitchFamily="49" charset="0"/>
                <a:ea typeface="Consolas" panose="020B0609020204030204" pitchFamily="49" charset="0"/>
                <a:cs typeface="Times New Roman" panose="02020603050405020304" pitchFamily="18" charset="0"/>
              </a:rPr>
              <a:t>OrderDetails</a:t>
            </a: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 VALUES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(1,301,201,1,10),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(2,301,203,2,5),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(3,302,202,1,15),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(4,303,204,1,0),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(5,304,205,2,20),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(6,305,207,1,5),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(7,306,208,3,10),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(8,307,201,2,15),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(9,308,207,1,0);</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Select *from </a:t>
            </a:r>
            <a:r>
              <a:rPr lang="en-IN" sz="1200" b="1" kern="100" dirty="0" err="1">
                <a:effectLst/>
                <a:latin typeface="Consolas" panose="020B0609020204030204" pitchFamily="49" charset="0"/>
                <a:ea typeface="Calibri" panose="020F0502020204030204" pitchFamily="34" charset="0"/>
                <a:cs typeface="Times New Roman" panose="02020603050405020304" pitchFamily="18" charset="0"/>
              </a:rPr>
              <a:t>OrderDetails</a:t>
            </a: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a:t>
            </a:r>
          </a:p>
        </p:txBody>
      </p:sp>
      <p:pic>
        <p:nvPicPr>
          <p:cNvPr id="4" name="Picture 3">
            <a:extLst>
              <a:ext uri="{FF2B5EF4-FFF2-40B4-BE49-F238E27FC236}">
                <a16:creationId xmlns:a16="http://schemas.microsoft.com/office/drawing/2014/main" id="{1DCA9089-1EE3-AE39-85F9-6A654EAB080B}"/>
              </a:ext>
            </a:extLst>
          </p:cNvPr>
          <p:cNvPicPr>
            <a:picLocks noChangeAspect="1"/>
          </p:cNvPicPr>
          <p:nvPr/>
        </p:nvPicPr>
        <p:blipFill>
          <a:blip r:embed="rId2"/>
          <a:stretch>
            <a:fillRect/>
          </a:stretch>
        </p:blipFill>
        <p:spPr>
          <a:xfrm>
            <a:off x="6164826" y="1554153"/>
            <a:ext cx="4487934" cy="3282244"/>
          </a:xfrm>
          <a:prstGeom prst="rect">
            <a:avLst/>
          </a:prstGeom>
          <a:ln>
            <a:solidFill>
              <a:schemeClr val="tx1"/>
            </a:solidFill>
          </a:ln>
          <a:effectLst>
            <a:outerShdw blurRad="50800" dist="38100" dir="5400000" algn="t" rotWithShape="0">
              <a:prstClr val="black">
                <a:alpha val="40000"/>
              </a:prstClr>
            </a:outerShdw>
          </a:effectLst>
        </p:spPr>
      </p:pic>
      <p:sp>
        <p:nvSpPr>
          <p:cNvPr id="7" name="TextBox 6">
            <a:extLst>
              <a:ext uri="{FF2B5EF4-FFF2-40B4-BE49-F238E27FC236}">
                <a16:creationId xmlns:a16="http://schemas.microsoft.com/office/drawing/2014/main" id="{DB4FD787-45B5-64F4-EB68-1EE079124743}"/>
              </a:ext>
            </a:extLst>
          </p:cNvPr>
          <p:cNvSpPr txBox="1"/>
          <p:nvPr/>
        </p:nvSpPr>
        <p:spPr>
          <a:xfrm>
            <a:off x="811653" y="769063"/>
            <a:ext cx="6096000" cy="369332"/>
          </a:xfrm>
          <a:prstGeom prst="rect">
            <a:avLst/>
          </a:prstGeom>
          <a:noFill/>
        </p:spPr>
        <p:txBody>
          <a:bodyPr wrap="square">
            <a:spAutoFit/>
          </a:bodyPr>
          <a:lstStyle/>
          <a:p>
            <a:r>
              <a:rPr lang="en-IN"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E</a:t>
            </a:r>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 Inserting Into </a:t>
            </a:r>
            <a:r>
              <a:rPr lang="en-IN" b="1" kern="100" dirty="0" err="1">
                <a:latin typeface="Consolas" panose="020B0609020204030204" pitchFamily="49" charset="0"/>
                <a:ea typeface="Consolas" panose="020B0609020204030204" pitchFamily="49" charset="0"/>
                <a:cs typeface="Times New Roman" panose="02020603050405020304" pitchFamily="18" charset="0"/>
              </a:rPr>
              <a:t>OrderDetails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69534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B99CCB-10A4-7A0C-8005-51591C760870}"/>
              </a:ext>
            </a:extLst>
          </p:cNvPr>
          <p:cNvSpPr txBox="1"/>
          <p:nvPr/>
        </p:nvSpPr>
        <p:spPr>
          <a:xfrm>
            <a:off x="1280160" y="1616659"/>
            <a:ext cx="4511040" cy="2982035"/>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INSERT INTO Reviews VALUES</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(1,101,201,5),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(2,102,202,4),</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(3,103,204,5),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(4,104,205,3),</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(5,105,207,4),</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(6,106,208,5),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(7,107,201,4),</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onsolas" panose="020B0609020204030204" pitchFamily="49" charset="0"/>
                <a:cs typeface="Times New Roman" panose="02020603050405020304" pitchFamily="18" charset="0"/>
              </a:rPr>
              <a:t>(8,108,207,5);</a:t>
            </a:r>
            <a:endParaRPr lang="en-IN" sz="1200" b="1" kern="100" dirty="0">
              <a:effectLst/>
              <a:latin typeface="Consolas" panose="020B0609020204030204" pitchFamily="49"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IN" sz="1200" b="1" kern="100" dirty="0">
                <a:effectLst/>
                <a:latin typeface="Consolas" panose="020B0609020204030204" pitchFamily="49" charset="0"/>
                <a:ea typeface="Calibri" panose="020F0502020204030204" pitchFamily="34" charset="0"/>
                <a:cs typeface="Times New Roman" panose="02020603050405020304" pitchFamily="18" charset="0"/>
              </a:rPr>
              <a:t>Select *from Reviews;</a:t>
            </a:r>
          </a:p>
        </p:txBody>
      </p:sp>
      <p:pic>
        <p:nvPicPr>
          <p:cNvPr id="4" name="Picture 3">
            <a:extLst>
              <a:ext uri="{FF2B5EF4-FFF2-40B4-BE49-F238E27FC236}">
                <a16:creationId xmlns:a16="http://schemas.microsoft.com/office/drawing/2014/main" id="{3722026D-BA3B-B198-0408-56BF0FE766B3}"/>
              </a:ext>
            </a:extLst>
          </p:cNvPr>
          <p:cNvPicPr>
            <a:picLocks noChangeAspect="1"/>
          </p:cNvPicPr>
          <p:nvPr/>
        </p:nvPicPr>
        <p:blipFill>
          <a:blip r:embed="rId2"/>
          <a:stretch>
            <a:fillRect/>
          </a:stretch>
        </p:blipFill>
        <p:spPr>
          <a:xfrm>
            <a:off x="6233652" y="1616658"/>
            <a:ext cx="4261628" cy="2982035"/>
          </a:xfrm>
          <a:prstGeom prst="rect">
            <a:avLst/>
          </a:prstGeom>
          <a:ln>
            <a:solidFill>
              <a:schemeClr val="tx1"/>
            </a:solidFill>
          </a:ln>
          <a:effectLst>
            <a:outerShdw blurRad="50800" dist="38100" dir="5400000" algn="t" rotWithShape="0">
              <a:prstClr val="black">
                <a:alpha val="40000"/>
              </a:prstClr>
            </a:outerShdw>
          </a:effectLst>
        </p:spPr>
      </p:pic>
      <p:sp>
        <p:nvSpPr>
          <p:cNvPr id="5" name="TextBox 4">
            <a:extLst>
              <a:ext uri="{FF2B5EF4-FFF2-40B4-BE49-F238E27FC236}">
                <a16:creationId xmlns:a16="http://schemas.microsoft.com/office/drawing/2014/main" id="{96B173FA-A75F-C24B-F5B8-3D04841A7D87}"/>
              </a:ext>
            </a:extLst>
          </p:cNvPr>
          <p:cNvSpPr txBox="1"/>
          <p:nvPr/>
        </p:nvSpPr>
        <p:spPr>
          <a:xfrm>
            <a:off x="1150374" y="887050"/>
            <a:ext cx="6096000" cy="369332"/>
          </a:xfrm>
          <a:prstGeom prst="rect">
            <a:avLst/>
          </a:prstGeom>
          <a:noFill/>
        </p:spPr>
        <p:txBody>
          <a:bodyPr wrap="square">
            <a:spAutoFit/>
          </a:bodyPr>
          <a:lstStyle/>
          <a:p>
            <a:r>
              <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rPr>
              <a:t>E) Inserting Into </a:t>
            </a:r>
            <a:r>
              <a:rPr lang="en-IN" b="1" kern="100" dirty="0">
                <a:latin typeface="Consolas" panose="020B0609020204030204" pitchFamily="49" charset="0"/>
                <a:ea typeface="Consolas" panose="020B0609020204030204" pitchFamily="49" charset="0"/>
                <a:cs typeface="Times New Roman" panose="02020603050405020304" pitchFamily="18" charset="0"/>
              </a:rPr>
              <a:t>Reviews</a:t>
            </a:r>
            <a:endParaRPr lang="en-IN" sz="1800" b="1" kern="100" dirty="0">
              <a:solidFill>
                <a:schemeClr val="bg2">
                  <a:lumMod val="25000"/>
                </a:schemeClr>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794077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6E965B-B25C-94E0-16AC-B3F8B8BDD195}"/>
              </a:ext>
            </a:extLst>
          </p:cNvPr>
          <p:cNvSpPr txBox="1"/>
          <p:nvPr/>
        </p:nvSpPr>
        <p:spPr>
          <a:xfrm>
            <a:off x="1127760" y="807896"/>
            <a:ext cx="6096000" cy="428259"/>
          </a:xfrm>
          <a:prstGeom prst="rect">
            <a:avLst/>
          </a:prstGeom>
          <a:noFill/>
        </p:spPr>
        <p:txBody>
          <a:bodyPr wrap="square">
            <a:spAutoFit/>
          </a:bodyPr>
          <a:lstStyle/>
          <a:p>
            <a:pPr algn="just">
              <a:lnSpc>
                <a:spcPct val="107000"/>
              </a:lnSpc>
              <a:spcAft>
                <a:spcPts val="800"/>
              </a:spcAft>
              <a:buNone/>
            </a:pPr>
            <a:r>
              <a:rPr lang="en-IN" sz="2200" b="1" u="sng"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rPr>
              <a:t>Basic SQL Queries</a:t>
            </a:r>
            <a:endParaRPr lang="en-IN" sz="2200"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73B6B47-12AC-6B07-B6D1-B9B6041E3035}"/>
              </a:ext>
            </a:extLst>
          </p:cNvPr>
          <p:cNvSpPr txBox="1"/>
          <p:nvPr/>
        </p:nvSpPr>
        <p:spPr>
          <a:xfrm>
            <a:off x="1127760" y="1723533"/>
            <a:ext cx="6096000" cy="397673"/>
          </a:xfrm>
          <a:prstGeom prst="rect">
            <a:avLst/>
          </a:prstGeom>
          <a:solidFill>
            <a:schemeClr val="accent2">
              <a:lumMod val="20000"/>
              <a:lumOff val="80000"/>
            </a:schemeClr>
          </a:solidFill>
          <a:ln w="12700"/>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2000" b="1"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rPr>
              <a:t>1). Display all details of the Customers table?</a:t>
            </a:r>
            <a:endParaRPr lang="en-IN" sz="2000"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A42F19F-1F5E-8F66-6161-D47625CB429F}"/>
              </a:ext>
            </a:extLst>
          </p:cNvPr>
          <p:cNvPicPr>
            <a:picLocks noChangeAspect="1"/>
          </p:cNvPicPr>
          <p:nvPr/>
        </p:nvPicPr>
        <p:blipFill>
          <a:blip r:embed="rId2"/>
          <a:stretch>
            <a:fillRect/>
          </a:stretch>
        </p:blipFill>
        <p:spPr>
          <a:xfrm>
            <a:off x="1127760" y="2454548"/>
            <a:ext cx="6523285" cy="2943362"/>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750265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60D488-4507-8D44-814A-C0FE30C80ED9}"/>
              </a:ext>
            </a:extLst>
          </p:cNvPr>
          <p:cNvSpPr txBox="1"/>
          <p:nvPr/>
        </p:nvSpPr>
        <p:spPr>
          <a:xfrm>
            <a:off x="1136935" y="676622"/>
            <a:ext cx="8646161" cy="397673"/>
          </a:xfrm>
          <a:prstGeom prst="rect">
            <a:avLst/>
          </a:prstGeom>
          <a:solidFill>
            <a:schemeClr val="accent2">
              <a:lumMod val="20000"/>
              <a:lumOff val="80000"/>
            </a:schemeClr>
          </a:solidFill>
          <a:ln w="12700">
            <a:solidFill>
              <a:schemeClr val="tx1"/>
            </a:solidFill>
          </a:ln>
        </p:spPr>
        <p:txBody>
          <a:bodyPr wrap="square">
            <a:spAutoFit/>
          </a:bodyPr>
          <a:lstStyle/>
          <a:p>
            <a:pPr algn="just">
              <a:lnSpc>
                <a:spcPct val="107000"/>
              </a:lnSpc>
              <a:spcAft>
                <a:spcPts val="800"/>
              </a:spcAft>
              <a:buNone/>
            </a:pPr>
            <a:r>
              <a:rPr lang="en-IN" sz="2000" b="1"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rPr>
              <a:t>2). Display ProductName, Brand, Price from the Products table?</a:t>
            </a:r>
            <a:endParaRPr lang="en-IN" sz="2000" kern="100" dirty="0">
              <a:solidFill>
                <a:schemeClr val="bg2">
                  <a:lumMod val="25000"/>
                </a:schemeClr>
              </a:solidFill>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84A9885-132E-46D2-4DC2-83B1D1238E25}"/>
              </a:ext>
            </a:extLst>
          </p:cNvPr>
          <p:cNvPicPr>
            <a:picLocks noChangeAspect="1"/>
          </p:cNvPicPr>
          <p:nvPr/>
        </p:nvPicPr>
        <p:blipFill>
          <a:blip r:embed="rId2"/>
          <a:stretch>
            <a:fillRect/>
          </a:stretch>
        </p:blipFill>
        <p:spPr>
          <a:xfrm>
            <a:off x="1136935" y="1467764"/>
            <a:ext cx="7092665" cy="3320546"/>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016518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FD8470-DAA1-B572-7FAC-31CA798A3FFB}"/>
              </a:ext>
            </a:extLst>
          </p:cNvPr>
          <p:cNvSpPr txBox="1"/>
          <p:nvPr/>
        </p:nvSpPr>
        <p:spPr>
          <a:xfrm>
            <a:off x="737419" y="560126"/>
            <a:ext cx="8691715" cy="397673"/>
          </a:xfrm>
          <a:prstGeom prst="rect">
            <a:avLst/>
          </a:prstGeom>
          <a:solidFill>
            <a:schemeClr val="accent2">
              <a:lumMod val="20000"/>
              <a:lumOff val="80000"/>
            </a:schemeClr>
          </a:solidFill>
          <a:ln w="12700"/>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3). Display OrderID, </a:t>
            </a:r>
            <a:r>
              <a:rPr lang="en-IN" sz="2000" b="1" kern="100" dirty="0" err="1">
                <a:effectLst/>
                <a:latin typeface="Cambria" panose="02040503050406030204" pitchFamily="18" charset="0"/>
                <a:ea typeface="Cambria" panose="02040503050406030204" pitchFamily="18" charset="0"/>
                <a:cs typeface="Times New Roman" panose="02020603050405020304" pitchFamily="18" charset="0"/>
              </a:rPr>
              <a:t>CustomerID</a:t>
            </a: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 </a:t>
            </a:r>
            <a:r>
              <a:rPr lang="en-IN" sz="2000" b="1" kern="100" dirty="0" err="1">
                <a:effectLst/>
                <a:latin typeface="Cambria" panose="02040503050406030204" pitchFamily="18" charset="0"/>
                <a:ea typeface="Cambria" panose="02040503050406030204" pitchFamily="18" charset="0"/>
                <a:cs typeface="Times New Roman" panose="02020603050405020304" pitchFamily="18" charset="0"/>
              </a:rPr>
              <a:t>OrderDate</a:t>
            </a: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 from the Orders table?</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E57EF2E-BDE2-A553-184B-450D6E607B8C}"/>
              </a:ext>
            </a:extLst>
          </p:cNvPr>
          <p:cNvPicPr>
            <a:picLocks noChangeAspect="1"/>
          </p:cNvPicPr>
          <p:nvPr/>
        </p:nvPicPr>
        <p:blipFill>
          <a:blip r:embed="rId2"/>
          <a:stretch>
            <a:fillRect/>
          </a:stretch>
        </p:blipFill>
        <p:spPr>
          <a:xfrm>
            <a:off x="737419" y="1407599"/>
            <a:ext cx="7511846" cy="3629847"/>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320128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0888E-3643-6CCB-DB5E-8FD1A4BDF5B2}"/>
              </a:ext>
            </a:extLst>
          </p:cNvPr>
          <p:cNvSpPr txBox="1"/>
          <p:nvPr/>
        </p:nvSpPr>
        <p:spPr>
          <a:xfrm>
            <a:off x="1249679" y="751363"/>
            <a:ext cx="6930759"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4). Show products costing more than ₹500?</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7E05E65-DAE1-B9B5-0355-AC05F3F1860F}"/>
              </a:ext>
            </a:extLst>
          </p:cNvPr>
          <p:cNvPicPr>
            <a:picLocks noChangeAspect="1"/>
          </p:cNvPicPr>
          <p:nvPr/>
        </p:nvPicPr>
        <p:blipFill>
          <a:blip r:embed="rId2"/>
          <a:stretch>
            <a:fillRect/>
          </a:stretch>
        </p:blipFill>
        <p:spPr>
          <a:xfrm>
            <a:off x="1249679" y="1542006"/>
            <a:ext cx="6793107" cy="2666200"/>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883514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D1CE0F-9046-AD93-24E9-E541B9A169E3}"/>
              </a:ext>
            </a:extLst>
          </p:cNvPr>
          <p:cNvSpPr txBox="1"/>
          <p:nvPr/>
        </p:nvSpPr>
        <p:spPr>
          <a:xfrm>
            <a:off x="1082531" y="751363"/>
            <a:ext cx="6096000"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5). Show customers from Maharashtra?</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ACDFD0B-20F8-67B3-E283-9E55CBFF90B8}"/>
              </a:ext>
            </a:extLst>
          </p:cNvPr>
          <p:cNvPicPr>
            <a:picLocks noChangeAspect="1"/>
          </p:cNvPicPr>
          <p:nvPr/>
        </p:nvPicPr>
        <p:blipFill>
          <a:blip r:embed="rId2"/>
          <a:stretch>
            <a:fillRect/>
          </a:stretch>
        </p:blipFill>
        <p:spPr>
          <a:xfrm>
            <a:off x="1082531" y="1553497"/>
            <a:ext cx="5977029" cy="2762864"/>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060695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A1A440-EAF2-5E05-C31D-6B729E16BCEF}"/>
              </a:ext>
            </a:extLst>
          </p:cNvPr>
          <p:cNvSpPr txBox="1"/>
          <p:nvPr/>
        </p:nvSpPr>
        <p:spPr>
          <a:xfrm>
            <a:off x="1229360" y="645733"/>
            <a:ext cx="6606950"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6). Display all orders placed after 2024-06-05?</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4A26947-C92C-725D-8DFE-2010838865C0}"/>
              </a:ext>
            </a:extLst>
          </p:cNvPr>
          <p:cNvPicPr>
            <a:picLocks noChangeAspect="1"/>
          </p:cNvPicPr>
          <p:nvPr/>
        </p:nvPicPr>
        <p:blipFill>
          <a:blip r:embed="rId2"/>
          <a:stretch>
            <a:fillRect/>
          </a:stretch>
        </p:blipFill>
        <p:spPr>
          <a:xfrm>
            <a:off x="1229360" y="1452646"/>
            <a:ext cx="6184163" cy="3109522"/>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185673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A34582-E0FE-4C20-6EAA-B0E7BA71C351}"/>
              </a:ext>
            </a:extLst>
          </p:cNvPr>
          <p:cNvSpPr txBox="1"/>
          <p:nvPr/>
        </p:nvSpPr>
        <p:spPr>
          <a:xfrm>
            <a:off x="954056" y="624290"/>
            <a:ext cx="7373867" cy="398265"/>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7). Display all products in descending order of price?</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8CDE71-2619-3E36-7BF1-D7604910778D}"/>
              </a:ext>
            </a:extLst>
          </p:cNvPr>
          <p:cNvPicPr>
            <a:picLocks noChangeAspect="1"/>
          </p:cNvPicPr>
          <p:nvPr/>
        </p:nvPicPr>
        <p:blipFill>
          <a:blip r:embed="rId2"/>
          <a:stretch>
            <a:fillRect/>
          </a:stretch>
        </p:blipFill>
        <p:spPr>
          <a:xfrm>
            <a:off x="954056" y="1365904"/>
            <a:ext cx="6616783" cy="3432237"/>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27916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26A16D-AAAD-933D-509B-6B975547E2FF}"/>
              </a:ext>
            </a:extLst>
          </p:cNvPr>
          <p:cNvSpPr txBox="1"/>
          <p:nvPr/>
        </p:nvSpPr>
        <p:spPr>
          <a:xfrm>
            <a:off x="1198880" y="649763"/>
            <a:ext cx="8485894"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8). Display customers according to their Join Date (latest first)?</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47FBB71-4AFB-8C2E-AD58-CA11BE06C624}"/>
              </a:ext>
            </a:extLst>
          </p:cNvPr>
          <p:cNvPicPr>
            <a:picLocks noChangeAspect="1"/>
          </p:cNvPicPr>
          <p:nvPr/>
        </p:nvPicPr>
        <p:blipFill>
          <a:blip r:embed="rId2"/>
          <a:stretch>
            <a:fillRect/>
          </a:stretch>
        </p:blipFill>
        <p:spPr>
          <a:xfrm>
            <a:off x="1198879" y="1456775"/>
            <a:ext cx="6686591" cy="3085728"/>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303095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48A18A-B5A5-AD29-850C-8078047FC2CA}"/>
              </a:ext>
            </a:extLst>
          </p:cNvPr>
          <p:cNvSpPr txBox="1"/>
          <p:nvPr/>
        </p:nvSpPr>
        <p:spPr>
          <a:xfrm>
            <a:off x="843280" y="539642"/>
            <a:ext cx="6688230"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latin typeface="Cambria" panose="02040503050406030204" pitchFamily="18" charset="0"/>
                <a:ea typeface="Cambria" panose="02040503050406030204" pitchFamily="18" charset="0"/>
                <a:cs typeface="Times New Roman" panose="02020603050405020304" pitchFamily="18" charset="0"/>
              </a:rPr>
              <a:t>9</a:t>
            </a: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 Find total products in each category?</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98C00DE-34BF-1384-4D26-44A399C5A5CE}"/>
              </a:ext>
            </a:extLst>
          </p:cNvPr>
          <p:cNvPicPr>
            <a:picLocks noChangeAspect="1"/>
          </p:cNvPicPr>
          <p:nvPr/>
        </p:nvPicPr>
        <p:blipFill>
          <a:blip r:embed="rId2"/>
          <a:stretch>
            <a:fillRect/>
          </a:stretch>
        </p:blipFill>
        <p:spPr>
          <a:xfrm>
            <a:off x="843280" y="1297352"/>
            <a:ext cx="6835714" cy="2773202"/>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271925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65935F-A517-27C3-5E3B-FEC9F37B8EC6}"/>
              </a:ext>
            </a:extLst>
          </p:cNvPr>
          <p:cNvSpPr txBox="1"/>
          <p:nvPr/>
        </p:nvSpPr>
        <p:spPr>
          <a:xfrm>
            <a:off x="1300480" y="659923"/>
            <a:ext cx="9121714"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10). Display brands whose average product price is greater than ₹500?</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C14EE48-156A-0651-18F0-D5D52254825B}"/>
              </a:ext>
            </a:extLst>
          </p:cNvPr>
          <p:cNvPicPr>
            <a:picLocks noChangeAspect="1"/>
          </p:cNvPicPr>
          <p:nvPr/>
        </p:nvPicPr>
        <p:blipFill>
          <a:blip r:embed="rId2"/>
          <a:stretch>
            <a:fillRect/>
          </a:stretch>
        </p:blipFill>
        <p:spPr>
          <a:xfrm>
            <a:off x="1300480" y="1407800"/>
            <a:ext cx="6122875" cy="2928225"/>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63419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FBCDA6-79E6-4943-6F4B-FFA81CAA9DEB}"/>
              </a:ext>
            </a:extLst>
          </p:cNvPr>
          <p:cNvSpPr txBox="1"/>
          <p:nvPr/>
        </p:nvSpPr>
        <p:spPr>
          <a:xfrm>
            <a:off x="976039" y="533593"/>
            <a:ext cx="8659573"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11). Display customers whose total spending is greater than ₹1000?</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068A1EE-1BCC-9178-EFD7-003E167E0510}"/>
              </a:ext>
            </a:extLst>
          </p:cNvPr>
          <p:cNvPicPr>
            <a:picLocks noChangeAspect="1"/>
          </p:cNvPicPr>
          <p:nvPr/>
        </p:nvPicPr>
        <p:blipFill>
          <a:blip r:embed="rId2"/>
          <a:stretch>
            <a:fillRect/>
          </a:stretch>
        </p:blipFill>
        <p:spPr>
          <a:xfrm>
            <a:off x="976039" y="1293781"/>
            <a:ext cx="6427651" cy="3258554"/>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618732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4E3C19-8D88-A15D-E409-04A61130C26C}"/>
              </a:ext>
            </a:extLst>
          </p:cNvPr>
          <p:cNvSpPr txBox="1"/>
          <p:nvPr/>
        </p:nvSpPr>
        <p:spPr>
          <a:xfrm>
            <a:off x="1362094" y="641242"/>
            <a:ext cx="7654087"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12). Display the top 5 most expensive products?</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2BE6AD7-8164-32F0-3D14-02FEF6E11E32}"/>
              </a:ext>
            </a:extLst>
          </p:cNvPr>
          <p:cNvPicPr>
            <a:picLocks noChangeAspect="1"/>
          </p:cNvPicPr>
          <p:nvPr/>
        </p:nvPicPr>
        <p:blipFill>
          <a:blip r:embed="rId2"/>
          <a:stretch>
            <a:fillRect/>
          </a:stretch>
        </p:blipFill>
        <p:spPr>
          <a:xfrm>
            <a:off x="1362094" y="1476822"/>
            <a:ext cx="6248074" cy="3134507"/>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293699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D54B98-ED50-A5FA-8B4C-942E477A3D47}"/>
              </a:ext>
            </a:extLst>
          </p:cNvPr>
          <p:cNvSpPr txBox="1"/>
          <p:nvPr/>
        </p:nvSpPr>
        <p:spPr>
          <a:xfrm>
            <a:off x="1194782" y="627476"/>
            <a:ext cx="6887333" cy="405047"/>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latin typeface="Cambria" panose="02040503050406030204" pitchFamily="18" charset="0"/>
                <a:ea typeface="Cambria" panose="02040503050406030204" pitchFamily="18" charset="0"/>
                <a:cs typeface="Times New Roman" panose="02020603050405020304" pitchFamily="18" charset="0"/>
              </a:rPr>
              <a:t>13</a:t>
            </a: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 Display Product Name and Category Name?</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BD25310-60F1-476A-1C64-780DC72E031F}"/>
              </a:ext>
            </a:extLst>
          </p:cNvPr>
          <p:cNvPicPr>
            <a:picLocks noChangeAspect="1"/>
          </p:cNvPicPr>
          <p:nvPr/>
        </p:nvPicPr>
        <p:blipFill>
          <a:blip r:embed="rId2"/>
          <a:stretch>
            <a:fillRect/>
          </a:stretch>
        </p:blipFill>
        <p:spPr>
          <a:xfrm>
            <a:off x="1194782" y="1413896"/>
            <a:ext cx="6081089" cy="3403909"/>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200102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135CEF-A016-89F8-C1DD-534451F0EA6B}"/>
              </a:ext>
            </a:extLst>
          </p:cNvPr>
          <p:cNvSpPr txBox="1"/>
          <p:nvPr/>
        </p:nvSpPr>
        <p:spPr>
          <a:xfrm>
            <a:off x="1290319" y="654507"/>
            <a:ext cx="9112210" cy="726994"/>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latin typeface="Cambria" panose="02040503050406030204" pitchFamily="18" charset="0"/>
                <a:ea typeface="Cambria" panose="02040503050406030204" pitchFamily="18" charset="0"/>
                <a:cs typeface="Times New Roman" panose="02020603050405020304" pitchFamily="18" charset="0"/>
              </a:rPr>
              <a:t>14</a:t>
            </a: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 Display the Customer Name, Order ID, Order Date, and Total Amount of customers who have placed orders?</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F880E5C-557C-046D-98CA-4535EF366F00}"/>
              </a:ext>
            </a:extLst>
          </p:cNvPr>
          <p:cNvPicPr>
            <a:picLocks noChangeAspect="1"/>
          </p:cNvPicPr>
          <p:nvPr/>
        </p:nvPicPr>
        <p:blipFill>
          <a:blip r:embed="rId2"/>
          <a:stretch>
            <a:fillRect/>
          </a:stretch>
        </p:blipFill>
        <p:spPr>
          <a:xfrm>
            <a:off x="1290318" y="1865176"/>
            <a:ext cx="7155591" cy="3296759"/>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981912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854A9F-D685-013B-EDBE-6A0547B4F274}"/>
              </a:ext>
            </a:extLst>
          </p:cNvPr>
          <p:cNvSpPr txBox="1"/>
          <p:nvPr/>
        </p:nvSpPr>
        <p:spPr>
          <a:xfrm>
            <a:off x="1166934" y="656612"/>
            <a:ext cx="6816859"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latin typeface="Cambria" panose="02040503050406030204" pitchFamily="18" charset="0"/>
                <a:ea typeface="Cambria" panose="02040503050406030204" pitchFamily="18" charset="0"/>
                <a:cs typeface="Times New Roman" panose="02020603050405020304" pitchFamily="18" charset="0"/>
              </a:rPr>
              <a:t>15</a:t>
            </a: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 Find the most expensive product?</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E7E4E06-3788-104A-C24E-CDBDA7CF1605}"/>
              </a:ext>
            </a:extLst>
          </p:cNvPr>
          <p:cNvPicPr>
            <a:picLocks noChangeAspect="1"/>
          </p:cNvPicPr>
          <p:nvPr/>
        </p:nvPicPr>
        <p:blipFill>
          <a:blip r:embed="rId2"/>
          <a:stretch>
            <a:fillRect/>
          </a:stretch>
        </p:blipFill>
        <p:spPr>
          <a:xfrm>
            <a:off x="1166933" y="1494811"/>
            <a:ext cx="5892627" cy="2546247"/>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45354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D05084-B934-2CE4-F49F-B5604D48B640}"/>
              </a:ext>
            </a:extLst>
          </p:cNvPr>
          <p:cNvSpPr txBox="1"/>
          <p:nvPr/>
        </p:nvSpPr>
        <p:spPr>
          <a:xfrm>
            <a:off x="1168399" y="832643"/>
            <a:ext cx="9155471" cy="397673"/>
          </a:xfrm>
          <a:prstGeom prst="rect">
            <a:avLst/>
          </a:prstGeom>
          <a:solidFill>
            <a:schemeClr val="accent2">
              <a:lumMod val="20000"/>
              <a:lumOff val="80000"/>
            </a:schemeClr>
          </a:solidFill>
          <a:ln>
            <a:solidFill>
              <a:schemeClr val="tx1"/>
            </a:solidFill>
          </a:ln>
        </p:spPr>
        <p:txBody>
          <a:bodyPr wrap="square">
            <a:spAutoFit/>
          </a:bodyPr>
          <a:lstStyle/>
          <a:p>
            <a:pPr algn="just">
              <a:lnSpc>
                <a:spcPct val="107000"/>
              </a:lnSpc>
              <a:spcAft>
                <a:spcPts val="800"/>
              </a:spcAft>
              <a:buNone/>
            </a:pPr>
            <a:r>
              <a:rPr lang="en-IN" sz="2000" b="1" kern="100" dirty="0">
                <a:latin typeface="Cambria" panose="02040503050406030204" pitchFamily="18" charset="0"/>
                <a:ea typeface="Cambria" panose="02040503050406030204" pitchFamily="18" charset="0"/>
                <a:cs typeface="Times New Roman" panose="02020603050405020304" pitchFamily="18" charset="0"/>
              </a:rPr>
              <a:t>16</a:t>
            </a:r>
            <a:r>
              <a:rPr lang="en-IN" sz="2000" b="1" kern="100" dirty="0">
                <a:effectLst/>
                <a:latin typeface="Cambria" panose="02040503050406030204" pitchFamily="18" charset="0"/>
                <a:ea typeface="Cambria" panose="02040503050406030204" pitchFamily="18" charset="0"/>
                <a:cs typeface="Times New Roman" panose="02020603050405020304" pitchFamily="18" charset="0"/>
              </a:rPr>
              <a:t>). Find orders whose amount is greater than the average order amount?</a:t>
            </a:r>
            <a:endParaRPr lang="en-IN" sz="2000" kern="100" dirty="0">
              <a:effectLst/>
              <a:latin typeface="Cambria" panose="02040503050406030204" pitchFamily="18" charset="0"/>
              <a:ea typeface="Cambria" panose="020405030504060302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2124F2-7E40-C92B-B118-FFB433E55A9B}"/>
              </a:ext>
            </a:extLst>
          </p:cNvPr>
          <p:cNvPicPr>
            <a:picLocks noChangeAspect="1"/>
          </p:cNvPicPr>
          <p:nvPr/>
        </p:nvPicPr>
        <p:blipFill>
          <a:blip r:embed="rId2"/>
          <a:stretch>
            <a:fillRect/>
          </a:stretch>
        </p:blipFill>
        <p:spPr>
          <a:xfrm>
            <a:off x="1168399" y="1575605"/>
            <a:ext cx="6215627" cy="3055389"/>
          </a:xfrm>
          <a:prstGeom prst="rect">
            <a:avLst/>
          </a:prstGeom>
          <a:ln>
            <a:solidFill>
              <a:schemeClr val="tx1"/>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0266745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B77B7A-7680-FD7C-997B-BB0793447FE3}"/>
              </a:ext>
            </a:extLst>
          </p:cNvPr>
          <p:cNvSpPr txBox="1"/>
          <p:nvPr/>
        </p:nvSpPr>
        <p:spPr>
          <a:xfrm>
            <a:off x="1012722" y="825910"/>
            <a:ext cx="9488130" cy="427809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sz="2000" b="1" dirty="0">
                <a:solidFill>
                  <a:schemeClr val="bg2">
                    <a:lumMod val="25000"/>
                  </a:schemeClr>
                </a:solidFill>
                <a:latin typeface="Cambria" panose="02040503050406030204" pitchFamily="18" charset="0"/>
                <a:ea typeface="Cambria" panose="02040503050406030204" pitchFamily="18" charset="0"/>
              </a:rPr>
              <a:t>Conclusion</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The </a:t>
            </a:r>
            <a:r>
              <a:rPr lang="en-IN" b="1" dirty="0" err="1">
                <a:latin typeface="Cambria" panose="02040503050406030204" pitchFamily="18" charset="0"/>
                <a:ea typeface="Cambria" panose="02040503050406030204" pitchFamily="18" charset="0"/>
              </a:rPr>
              <a:t>Nykaa</a:t>
            </a:r>
            <a:r>
              <a:rPr lang="en-IN" b="1" dirty="0">
                <a:latin typeface="Cambria" panose="02040503050406030204" pitchFamily="18" charset="0"/>
                <a:ea typeface="Cambria" panose="02040503050406030204" pitchFamily="18" charset="0"/>
              </a:rPr>
              <a:t> Sales Analysis</a:t>
            </a:r>
            <a:r>
              <a:rPr lang="en-IN" dirty="0">
                <a:latin typeface="Cambria" panose="02040503050406030204" pitchFamily="18" charset="0"/>
                <a:ea typeface="Cambria" panose="02040503050406030204" pitchFamily="18" charset="0"/>
              </a:rPr>
              <a:t> project demonstrates the use of SQL for managing and </a:t>
            </a:r>
            <a:r>
              <a:rPr lang="en-IN" dirty="0" err="1">
                <a:latin typeface="Cambria" panose="02040503050406030204" pitchFamily="18" charset="0"/>
                <a:ea typeface="Cambria" panose="02040503050406030204" pitchFamily="18" charset="0"/>
              </a:rPr>
              <a:t>analyzing</a:t>
            </a:r>
            <a:r>
              <a:rPr lang="en-IN" dirty="0">
                <a:latin typeface="Cambria" panose="02040503050406030204" pitchFamily="18" charset="0"/>
                <a:ea typeface="Cambria" panose="02040503050406030204" pitchFamily="18" charset="0"/>
              </a:rPr>
              <a:t> sales data in a structured database. The database was designed using tables for customers, categories, products, orders, order details, and reviews, making it easier to store and retrieve information efficiently.</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Various SQL operations were performed to </a:t>
            </a:r>
            <a:r>
              <a:rPr lang="en-IN" dirty="0" err="1">
                <a:latin typeface="Cambria" panose="02040503050406030204" pitchFamily="18" charset="0"/>
                <a:ea typeface="Cambria" panose="02040503050406030204" pitchFamily="18" charset="0"/>
              </a:rPr>
              <a:t>analyze</a:t>
            </a:r>
            <a:r>
              <a:rPr lang="en-IN" dirty="0">
                <a:latin typeface="Cambria" panose="02040503050406030204" pitchFamily="18" charset="0"/>
                <a:ea typeface="Cambria" panose="02040503050406030204" pitchFamily="18" charset="0"/>
              </a:rPr>
              <a:t> customer orders, product details, sales performance, revenue, and reviews. Different SQL concepts, including </a:t>
            </a:r>
            <a:r>
              <a:rPr lang="en-IN" b="1" dirty="0">
                <a:latin typeface="Cambria" panose="02040503050406030204" pitchFamily="18" charset="0"/>
                <a:ea typeface="Cambria" panose="02040503050406030204" pitchFamily="18" charset="0"/>
              </a:rPr>
              <a:t>DDL, DML, filtering, sorting, grouping, joins, having, aggregate functions, subqueries</a:t>
            </a:r>
            <a:r>
              <a:rPr lang="en-IN" dirty="0">
                <a:latin typeface="Cambria" panose="02040503050406030204" pitchFamily="18" charset="0"/>
                <a:ea typeface="Cambria" panose="02040503050406030204" pitchFamily="18" charset="0"/>
              </a:rPr>
              <a:t> were used to generate meaningful information from the data.</a:t>
            </a:r>
          </a:p>
          <a:p>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The project highlights how SQL can be used to organize business data, simplify data analysis, and support better business decisions. The project can be further enhanced by adding more records and implementing additional SQL concepts to perform deeper business analysis.</a:t>
            </a:r>
          </a:p>
        </p:txBody>
      </p:sp>
    </p:spTree>
    <p:extLst>
      <p:ext uri="{BB962C8B-B14F-4D97-AF65-F5344CB8AC3E}">
        <p14:creationId xmlns:p14="http://schemas.microsoft.com/office/powerpoint/2010/main" val="2373924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6BAC17-3114-807E-69C5-5E3DDC21F2F7}"/>
              </a:ext>
            </a:extLst>
          </p:cNvPr>
          <p:cNvSpPr txBox="1"/>
          <p:nvPr/>
        </p:nvSpPr>
        <p:spPr>
          <a:xfrm>
            <a:off x="2802194" y="1976284"/>
            <a:ext cx="6154993" cy="630942"/>
          </a:xfrm>
          <a:prstGeom prst="rect">
            <a:avLst/>
          </a:prstGeom>
          <a:effectLst>
            <a:glow rad="63500">
              <a:schemeClr val="accent2">
                <a:satMod val="175000"/>
                <a:alpha val="40000"/>
              </a:schemeClr>
            </a:glow>
            <a:outerShdw blurRad="76200" dist="12700" dir="8100000" sy="-23000" kx="800400" algn="br" rotWithShape="0">
              <a:prstClr val="black">
                <a:alpha val="20000"/>
              </a:prstClr>
            </a:outerShdw>
            <a:softEdge rad="127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3500" b="1" dirty="0">
                <a:solidFill>
                  <a:schemeClr val="bg2">
                    <a:lumMod val="25000"/>
                  </a:schemeClr>
                </a:solidFill>
                <a:latin typeface="Cambria" panose="02040503050406030204" pitchFamily="18" charset="0"/>
                <a:ea typeface="Cambria" panose="02040503050406030204" pitchFamily="18" charset="0"/>
              </a:rPr>
              <a:t>Thank You</a:t>
            </a:r>
            <a:endParaRPr lang="en-IN" sz="3500" b="1" dirty="0">
              <a:solidFill>
                <a:schemeClr val="bg2">
                  <a:lumMod val="2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705709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243</TotalTime>
  <Words>1340</Words>
  <Application>Microsoft Office PowerPoint</Application>
  <PresentationFormat>Widescreen</PresentationFormat>
  <Paragraphs>189</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Calibri</vt:lpstr>
      <vt:lpstr>Calibri Light</vt:lpstr>
      <vt:lpstr>Cambria</vt:lpstr>
      <vt:lpstr>Consolas</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Pranali Wadkar</dc:creator>
  <cp:lastModifiedBy>Pranali Wadkar</cp:lastModifiedBy>
  <cp:revision>6</cp:revision>
  <dcterms:created xsi:type="dcterms:W3CDTF">2026-07-23T13:01:59Z</dcterms:created>
  <dcterms:modified xsi:type="dcterms:W3CDTF">2026-08-31T17:44:09Z</dcterms:modified>
</cp:coreProperties>
</file>